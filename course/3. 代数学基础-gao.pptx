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tag20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0" r:id="rId2"/>
  </p:sldMasterIdLst>
  <p:notesMasterIdLst>
    <p:notesMasterId r:id="rId47"/>
  </p:notesMasterIdLst>
  <p:sldIdLst>
    <p:sldId id="287" r:id="rId3"/>
    <p:sldId id="430" r:id="rId4"/>
    <p:sldId id="392" r:id="rId5"/>
    <p:sldId id="393" r:id="rId6"/>
    <p:sldId id="396" r:id="rId7"/>
    <p:sldId id="397" r:id="rId8"/>
    <p:sldId id="398" r:id="rId9"/>
    <p:sldId id="399" r:id="rId10"/>
    <p:sldId id="400" r:id="rId11"/>
    <p:sldId id="401" r:id="rId12"/>
    <p:sldId id="402" r:id="rId13"/>
    <p:sldId id="403" r:id="rId14"/>
    <p:sldId id="431" r:id="rId15"/>
    <p:sldId id="404" r:id="rId16"/>
    <p:sldId id="405" r:id="rId17"/>
    <p:sldId id="406" r:id="rId18"/>
    <p:sldId id="407" r:id="rId19"/>
    <p:sldId id="385" r:id="rId20"/>
    <p:sldId id="386" r:id="rId21"/>
    <p:sldId id="387" r:id="rId22"/>
    <p:sldId id="388" r:id="rId23"/>
    <p:sldId id="432" r:id="rId24"/>
    <p:sldId id="390" r:id="rId25"/>
    <p:sldId id="408" r:id="rId26"/>
    <p:sldId id="409" r:id="rId27"/>
    <p:sldId id="410" r:id="rId28"/>
    <p:sldId id="411" r:id="rId29"/>
    <p:sldId id="412" r:id="rId30"/>
    <p:sldId id="413" r:id="rId31"/>
    <p:sldId id="414" r:id="rId32"/>
    <p:sldId id="415" r:id="rId33"/>
    <p:sldId id="416" r:id="rId34"/>
    <p:sldId id="433" r:id="rId35"/>
    <p:sldId id="417" r:id="rId36"/>
    <p:sldId id="420" r:id="rId37"/>
    <p:sldId id="421" r:id="rId38"/>
    <p:sldId id="427" r:id="rId39"/>
    <p:sldId id="423" r:id="rId40"/>
    <p:sldId id="425" r:id="rId41"/>
    <p:sldId id="426" r:id="rId42"/>
    <p:sldId id="422" r:id="rId43"/>
    <p:sldId id="428" r:id="rId44"/>
    <p:sldId id="429" r:id="rId45"/>
    <p:sldId id="434" r:id="rId4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65" d="100"/>
          <a:sy n="65" d="100"/>
        </p:scale>
        <p:origin x="66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21D3A-6C01-470B-A71F-4CE0CB5AF97B}" type="datetimeFigureOut">
              <a:rPr lang="zh-CN" altLang="en-US" smtClean="0"/>
              <a:t>2020/10/14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513396-3B7A-453D-9BDB-7841A96601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4184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58D7E-356C-4185-82BD-CDFB029C7F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67500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31F1D7-AFAF-4347-B8CD-3FEEEB8847B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40442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31F1D7-AFAF-4347-B8CD-3FEEEB8847B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96622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31F1D7-AFAF-4347-B8CD-3FEEEB8847B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60065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31F1D7-AFAF-4347-B8CD-3FEEEB8847B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25609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31F1D7-AFAF-4347-B8CD-3FEEEB8847B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65021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31F1D7-AFAF-4347-B8CD-3FEEEB8847B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4456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9F68DC5D-CDF8-4BBB-81EB-C910821FBAF1}"/>
              </a:ext>
            </a:extLst>
          </p:cNvPr>
          <p:cNvGrpSpPr/>
          <p:nvPr userDrawn="1"/>
        </p:nvGrpSpPr>
        <p:grpSpPr>
          <a:xfrm>
            <a:off x="0" y="-2"/>
            <a:ext cx="12191999" cy="6858002"/>
            <a:chOff x="1" y="-2"/>
            <a:chExt cx="12031578" cy="5555177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F8DA8E45-7248-456C-8892-9464E4967F1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4762"/>
            <a:stretch/>
          </p:blipFill>
          <p:spPr>
            <a:xfrm>
              <a:off x="8983580" y="-2"/>
              <a:ext cx="3047999" cy="5555177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162E7635-E656-4B52-AAB0-2E756C44323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143"/>
            <a:stretch/>
          </p:blipFill>
          <p:spPr>
            <a:xfrm>
              <a:off x="7940838" y="-2"/>
              <a:ext cx="1203162" cy="5555177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67AC508A-216D-4B0D-AB59-165A757A0F7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143"/>
            <a:stretch/>
          </p:blipFill>
          <p:spPr>
            <a:xfrm>
              <a:off x="6737677" y="0"/>
              <a:ext cx="1203162" cy="5555175"/>
            </a:xfrm>
            <a:prstGeom prst="rect">
              <a:avLst/>
            </a:prstGeom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4379DC97-C3ED-432D-A072-AA3E54F9BB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" y="0"/>
              <a:ext cx="6737676" cy="5555175"/>
            </a:xfrm>
            <a:prstGeom prst="rect">
              <a:avLst/>
            </a:prstGeom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011349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random/>
      </p:transition>
    </mc:Choice>
    <mc:Fallback xmlns="">
      <p:transition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2">
            <a:extLst>
              <a:ext uri="{FF2B5EF4-FFF2-40B4-BE49-F238E27FC236}">
                <a16:creationId xmlns:a16="http://schemas.microsoft.com/office/drawing/2014/main" id="{8CFA4310-3576-4D3C-AD97-25563C317A9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22"/>
          <a:stretch>
            <a:fillRect/>
          </a:stretch>
        </p:blipFill>
        <p:spPr bwMode="auto">
          <a:xfrm>
            <a:off x="1" y="0"/>
            <a:ext cx="12192000" cy="6857996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0C80055E-608E-4C08-895C-16235BB1920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7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401" y="65087"/>
            <a:ext cx="1033462" cy="1033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9814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random/>
      </p:transition>
    </mc:Choice>
    <mc:Fallback xmlns="">
      <p:transition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2C07E3-5601-4DDD-8D86-6FD82F901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6F57AE-556A-4A14-8E37-9271CCA4F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B01382-14E8-41BC-8671-6CCC2615C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29060-D6C8-474D-BF3D-A636D4F78362}" type="datetimeFigureOut">
              <a:rPr lang="zh-CN" altLang="en-US" smtClean="0"/>
              <a:t>2020/10/14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ED6690-81F7-4435-8617-6A7594E44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06348B-47EC-4F69-8E68-5B87D4BEA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D48A0-2E9E-4339-B1A1-A9CF399B0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9108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random/>
      </p:transition>
    </mc:Choice>
    <mc:Fallback xmlns="">
      <p:transition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10563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10563" y="1600206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20877711"/>
      </p:ext>
    </p:extLst>
  </p:cSld>
  <p:clrMapOvr>
    <a:masterClrMapping/>
  </p:clrMapOvr>
  <p:transition>
    <p:diamond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840" y="4406910"/>
            <a:ext cx="10362240" cy="1362075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840" y="2906713"/>
            <a:ext cx="1036224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724636426"/>
      </p:ext>
    </p:extLst>
  </p:cSld>
  <p:clrMapOvr>
    <a:masterClrMapping/>
  </p:clrMapOvr>
  <p:transition>
    <p:diamond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10563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10560" y="1600206"/>
            <a:ext cx="5393280" cy="452596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88165" y="1600206"/>
            <a:ext cx="5395200" cy="452596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4123292570"/>
      </p:ext>
    </p:extLst>
  </p:cSld>
  <p:clrMapOvr>
    <a:masterClrMapping/>
  </p:clrMapOvr>
  <p:transition>
    <p:diamond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10563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10560" y="1535113"/>
            <a:ext cx="5385600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0560" y="2174875"/>
            <a:ext cx="5385600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923" y="1535113"/>
            <a:ext cx="5389440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923" y="2174875"/>
            <a:ext cx="5389440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09536277"/>
      </p:ext>
    </p:extLst>
  </p:cSld>
  <p:clrMapOvr>
    <a:masterClrMapping/>
  </p:clrMapOvr>
  <p:transition>
    <p:diamond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10563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38469344"/>
      </p:ext>
    </p:extLst>
  </p:cSld>
  <p:clrMapOvr>
    <a:masterClrMapping/>
  </p:clrMapOvr>
  <p:transition>
    <p:diamond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4223277"/>
      </p:ext>
    </p:extLst>
  </p:cSld>
  <p:clrMapOvr>
    <a:masterClrMapping/>
  </p:clrMapOvr>
  <p:transition>
    <p:diamond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10560" y="273050"/>
            <a:ext cx="4010880" cy="1162050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7365" y="273060"/>
            <a:ext cx="6816000" cy="585311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10560" y="1435103"/>
            <a:ext cx="4010880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638637566"/>
      </p:ext>
    </p:extLst>
  </p:cSld>
  <p:clrMapOvr>
    <a:masterClrMapping/>
  </p:clrMapOvr>
  <p:transition>
    <p:diamond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90405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90405" y="111442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90405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57666576"/>
      </p:ext>
    </p:extLst>
  </p:cSld>
  <p:clrMapOvr>
    <a:masterClrMapping/>
  </p:clrMapOvr>
  <p:transition>
    <p:diamond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10563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10563" y="1600206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417031986"/>
      </p:ext>
    </p:extLst>
  </p:cSld>
  <p:clrMapOvr>
    <a:masterClrMapping/>
  </p:clrMapOvr>
  <p:transition>
    <p:diamond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41600" y="274648"/>
            <a:ext cx="274176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10563" y="274648"/>
            <a:ext cx="804672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20247135"/>
      </p:ext>
    </p:extLst>
  </p:cSld>
  <p:clrMapOvr>
    <a:masterClrMapping/>
  </p:clrMapOvr>
  <p:transition>
    <p:diamond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0563" y="-26988"/>
            <a:ext cx="10972800" cy="114300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10560" y="1268421"/>
            <a:ext cx="5393280" cy="51133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88165" y="1268421"/>
            <a:ext cx="5395200" cy="51133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008729131"/>
      </p:ext>
    </p:extLst>
  </p:cSld>
  <p:clrMapOvr>
    <a:masterClrMapping/>
  </p:clrMapOvr>
  <p:transition>
    <p:diamond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3920" y="2130435"/>
            <a:ext cx="1036416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9761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398863608"/>
      </p:ext>
    </p:extLst>
  </p:cSld>
  <p:clrMapOvr>
    <a:masterClrMapping/>
  </p:clrMapOvr>
  <p:transition>
    <p:diamond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image" Target="../media/image5.png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AEE73-4EA0-40D0-84D3-E864ED7A6602}" type="datetimeFigureOut">
              <a:rPr lang="zh-CN" altLang="en-US" smtClean="0"/>
              <a:t>2020/10/14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D99416-28B6-4010-BE2A-2BAC58E3B0E0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EF6146AD-43B0-43E3-B478-9382393C6B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67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4676" y="93662"/>
            <a:ext cx="1033462" cy="1033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8607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mc:AlternateContent xmlns:mc="http://schemas.openxmlformats.org/markup-compatibility/2006" xmlns:p14="http://schemas.microsoft.com/office/powerpoint/2010/main">
    <mc:Choice Requires="p14">
      <p:transition p14:dur="250">
        <p:random/>
      </p:transition>
    </mc:Choice>
    <mc:Fallback xmlns="">
      <p:transition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chemeClr val="bg1"/>
            </a:gs>
            <a:gs pos="100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ubbar">
            <a:extLst>
              <a:ext uri="{FF2B5EF4-FFF2-40B4-BE49-F238E27FC236}">
                <a16:creationId xmlns:a16="http://schemas.microsoft.com/office/drawing/2014/main" id="{47610209-6686-43F2-BFC4-CB20751D7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hqprint">
            <a:lum bright="-3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9" r="267"/>
          <a:stretch>
            <a:fillRect/>
          </a:stretch>
        </p:blipFill>
        <p:spPr bwMode="auto">
          <a:xfrm>
            <a:off x="0" y="3"/>
            <a:ext cx="12192000" cy="102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Line 3">
            <a:extLst>
              <a:ext uri="{FF2B5EF4-FFF2-40B4-BE49-F238E27FC236}">
                <a16:creationId xmlns:a16="http://schemas.microsoft.com/office/drawing/2014/main" id="{DE6D33CF-3D37-4739-A354-4F7AA635F86D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1066800"/>
            <a:ext cx="12192000" cy="1588"/>
          </a:xfrm>
          <a:prstGeom prst="line">
            <a:avLst/>
          </a:prstGeom>
          <a:noFill/>
          <a:ln w="28575">
            <a:solidFill>
              <a:srgbClr val="236485"/>
            </a:solidFill>
            <a:round/>
            <a:headEnd/>
            <a:tailEnd/>
          </a:ln>
          <a:effectLst>
            <a:outerShdw dist="35921" dir="2700000" algn="ctr" rotWithShape="0">
              <a:srgbClr val="90C06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35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52" name="Rectangle 7">
            <a:extLst>
              <a:ext uri="{FF2B5EF4-FFF2-40B4-BE49-F238E27FC236}">
                <a16:creationId xmlns:a16="http://schemas.microsoft.com/office/drawing/2014/main" id="{C70D825F-DB7B-4267-93ED-29A129B81B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268416"/>
            <a:ext cx="10972800" cy="5113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053" name="Rectangle 9">
            <a:extLst>
              <a:ext uri="{FF2B5EF4-FFF2-40B4-BE49-F238E27FC236}">
                <a16:creationId xmlns:a16="http://schemas.microsoft.com/office/drawing/2014/main" id="{A59B73B6-011A-4D00-A48E-7802E4FDC9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-26988"/>
            <a:ext cx="10972800" cy="114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711224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</p:sldLayoutIdLst>
  <p:transition>
    <p:diamond/>
  </p:transition>
  <p:hf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黑体" pitchFamily="2" charset="-122"/>
          <a:ea typeface="黑体" pitchFamily="2" charset="-122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黑体" pitchFamily="2" charset="-122"/>
          <a:ea typeface="黑体" pitchFamily="2" charset="-122"/>
          <a:cs typeface="Tahoma" pitchFamily="34" charset="0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黑体" pitchFamily="2" charset="-122"/>
          <a:ea typeface="黑体" pitchFamily="2" charset="-122"/>
          <a:cs typeface="Tahoma" pitchFamily="34" charset="0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黑体" pitchFamily="2" charset="-122"/>
          <a:ea typeface="黑体" pitchFamily="2" charset="-122"/>
          <a:cs typeface="Tahoma" pitchFamily="34" charset="0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黑体" pitchFamily="2" charset="-122"/>
          <a:ea typeface="黑体" pitchFamily="2" charset="-122"/>
          <a:cs typeface="Tahoma" pitchFamily="34" charset="0"/>
        </a:defRPr>
      </a:lvl5pPr>
      <a:lvl6pPr marL="342900" algn="ctr" rtl="0" fontAlgn="base" latinLnBrk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굴림" pitchFamily="50" charset="-127"/>
          <a:ea typeface="굴림" pitchFamily="50" charset="-127"/>
          <a:cs typeface="Tahoma" pitchFamily="34" charset="0"/>
        </a:defRPr>
      </a:lvl6pPr>
      <a:lvl7pPr marL="685800" algn="ctr" rtl="0" fontAlgn="base" latinLnBrk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굴림" pitchFamily="50" charset="-127"/>
          <a:ea typeface="굴림" pitchFamily="50" charset="-127"/>
          <a:cs typeface="Tahoma" pitchFamily="34" charset="0"/>
        </a:defRPr>
      </a:lvl7pPr>
      <a:lvl8pPr marL="1028700" algn="ctr" rtl="0" fontAlgn="base" latinLnBrk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굴림" pitchFamily="50" charset="-127"/>
          <a:ea typeface="굴림" pitchFamily="50" charset="-127"/>
          <a:cs typeface="Tahoma" pitchFamily="34" charset="0"/>
        </a:defRPr>
      </a:lvl8pPr>
      <a:lvl9pPr marL="1371600" algn="ctr" rtl="0" fontAlgn="base" latinLnBrk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굴림" pitchFamily="50" charset="-127"/>
          <a:ea typeface="굴림" pitchFamily="50" charset="-127"/>
          <a:cs typeface="Tahoma" pitchFamily="34" charset="0"/>
        </a:defRPr>
      </a:lvl9pPr>
    </p:titleStyle>
    <p:bodyStyle>
      <a:lvl1pPr marL="335756" indent="-335756" algn="l" rtl="0" eaLnBrk="0" fontAlgn="base" latinLnBrk="1" hangingPunct="0">
        <a:spcBef>
          <a:spcPct val="20000"/>
        </a:spcBef>
        <a:spcAft>
          <a:spcPct val="0"/>
        </a:spcAft>
        <a:buClr>
          <a:srgbClr val="000099"/>
        </a:buClr>
        <a:buFont typeface="Wingdings" panose="05000000000000000000" pitchFamily="2" charset="2"/>
        <a:buChar char="Ø"/>
        <a:defRPr kumimoji="1" sz="2400">
          <a:solidFill>
            <a:srgbClr val="333399"/>
          </a:solidFill>
          <a:latin typeface="黑体" pitchFamily="2" charset="-122"/>
          <a:ea typeface="黑体" pitchFamily="2" charset="-122"/>
          <a:cs typeface="+mn-cs"/>
        </a:defRPr>
      </a:lvl1pPr>
      <a:lvl2pPr marL="666750" indent="-329804" algn="l" rtl="0" eaLnBrk="0" fontAlgn="base" latinLnBrk="1" hangingPunct="0">
        <a:spcBef>
          <a:spcPct val="20000"/>
        </a:spcBef>
        <a:spcAft>
          <a:spcPct val="0"/>
        </a:spcAft>
        <a:buClr>
          <a:srgbClr val="6699FF"/>
        </a:buClr>
        <a:buFont typeface="Wingdings 2" panose="05020102010507070707" pitchFamily="18" charset="2"/>
        <a:buBlip>
          <a:blip r:embed="rId15"/>
        </a:buBlip>
        <a:defRPr kumimoji="1" sz="2100">
          <a:solidFill>
            <a:srgbClr val="333399"/>
          </a:solidFill>
          <a:latin typeface="黑体" pitchFamily="2" charset="-122"/>
          <a:ea typeface="黑体" pitchFamily="2" charset="-122"/>
          <a:cs typeface="+mn-cs"/>
        </a:defRPr>
      </a:lvl2pPr>
      <a:lvl3pPr marL="970360" indent="-302419" algn="l" rtl="0" eaLnBrk="0" fontAlgn="base" latinLnBrk="1" hangingPunct="0">
        <a:spcBef>
          <a:spcPct val="20000"/>
        </a:spcBef>
        <a:spcAft>
          <a:spcPct val="0"/>
        </a:spcAft>
        <a:buClr>
          <a:srgbClr val="000099"/>
        </a:buClr>
        <a:buSzPct val="75000"/>
        <a:buFont typeface="Wingdings" panose="05000000000000000000" pitchFamily="2" charset="2"/>
        <a:buChar char="l"/>
        <a:defRPr kumimoji="1" sz="1800">
          <a:solidFill>
            <a:srgbClr val="333399"/>
          </a:solidFill>
          <a:latin typeface="黑体" pitchFamily="2" charset="-122"/>
          <a:ea typeface="黑体" pitchFamily="2" charset="-122"/>
          <a:cs typeface="+mn-cs"/>
        </a:defRPr>
      </a:lvl3pPr>
      <a:lvl4pPr marL="1260872" indent="-289322" algn="l" rtl="0" eaLnBrk="0" fontAlgn="base" latinLnBrk="1" hangingPunct="0">
        <a:spcBef>
          <a:spcPct val="20000"/>
        </a:spcBef>
        <a:spcAft>
          <a:spcPct val="0"/>
        </a:spcAft>
        <a:buClr>
          <a:srgbClr val="000099"/>
        </a:buClr>
        <a:buSzPct val="70000"/>
        <a:buFont typeface="Wingdings" panose="05000000000000000000" pitchFamily="2" charset="2"/>
        <a:buChar char="u"/>
        <a:defRPr kumimoji="1" sz="1500">
          <a:solidFill>
            <a:srgbClr val="333399"/>
          </a:solidFill>
          <a:latin typeface="黑体" pitchFamily="2" charset="-122"/>
          <a:ea typeface="黑体" pitchFamily="2" charset="-122"/>
          <a:cs typeface="+mn-cs"/>
        </a:defRPr>
      </a:lvl4pPr>
      <a:lvl5pPr marL="1552575" indent="-290513" algn="l" rtl="0" eaLnBrk="0" fontAlgn="base" latinLnBrk="1" hangingPunct="0">
        <a:spcBef>
          <a:spcPct val="20000"/>
        </a:spcBef>
        <a:spcAft>
          <a:spcPct val="0"/>
        </a:spcAft>
        <a:buClr>
          <a:srgbClr val="6699FF"/>
        </a:buClr>
        <a:buFont typeface="Wingdings 2" panose="05020102010507070707" pitchFamily="18" charset="2"/>
        <a:buChar char="ò"/>
        <a:defRPr kumimoji="1" sz="1500">
          <a:solidFill>
            <a:srgbClr val="333399"/>
          </a:solidFill>
          <a:latin typeface="黑体" pitchFamily="2" charset="-122"/>
          <a:ea typeface="黑体" pitchFamily="2" charset="-122"/>
          <a:cs typeface="+mn-cs"/>
        </a:defRPr>
      </a:lvl5pPr>
      <a:lvl6pPr marL="1895475" indent="-290513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itchFamily="2" charset="2"/>
        <a:buChar char="v"/>
        <a:defRPr kumimoji="1">
          <a:solidFill>
            <a:schemeClr val="tx1"/>
          </a:solidFill>
          <a:latin typeface="+mn-lt"/>
          <a:ea typeface="+mn-ea"/>
          <a:cs typeface="+mn-cs"/>
        </a:defRPr>
      </a:lvl6pPr>
      <a:lvl7pPr marL="2238375" indent="-290513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itchFamily="2" charset="2"/>
        <a:buChar char="v"/>
        <a:defRPr kumimoji="1">
          <a:solidFill>
            <a:schemeClr val="tx1"/>
          </a:solidFill>
          <a:latin typeface="+mn-lt"/>
          <a:ea typeface="+mn-ea"/>
          <a:cs typeface="+mn-cs"/>
        </a:defRPr>
      </a:lvl7pPr>
      <a:lvl8pPr marL="2581275" indent="-290513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itchFamily="2" charset="2"/>
        <a:buChar char="v"/>
        <a:defRPr kumimoji="1">
          <a:solidFill>
            <a:schemeClr val="tx1"/>
          </a:solidFill>
          <a:latin typeface="+mn-lt"/>
          <a:ea typeface="+mn-ea"/>
          <a:cs typeface="+mn-cs"/>
        </a:defRPr>
      </a:lvl8pPr>
      <a:lvl9pPr marL="2924175" indent="-290513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itchFamily="2" charset="2"/>
        <a:buChar char="v"/>
        <a:defRPr kumimoji="1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10.png"/><Relationship Id="rId7" Type="http://schemas.openxmlformats.org/officeDocument/2006/relationships/image" Target="../media/image11.png"/><Relationship Id="rId2" Type="http://schemas.openxmlformats.org/officeDocument/2006/relationships/image" Target="../media/image610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9.xml"/><Relationship Id="rId3" Type="http://schemas.openxmlformats.org/officeDocument/2006/relationships/tags" Target="../tags/tag3.xml"/><Relationship Id="rId21" Type="http://schemas.openxmlformats.org/officeDocument/2006/relationships/image" Target="../media/image6.tmp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image" Target="../media/image16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tags" Target="../tags/tag2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968261" y="1632031"/>
            <a:ext cx="877551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网络空间安全数学基础（</a:t>
            </a:r>
            <a:r>
              <a:rPr kumimoji="0" lang="en-US" altLang="zh-CN" sz="6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3</a:t>
            </a:r>
            <a:r>
              <a:rPr kumimoji="0" lang="zh-CN" altLang="en-US" sz="6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）</a:t>
            </a:r>
            <a:endParaRPr kumimoji="0" lang="zh-CN" altLang="en-US" sz="66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Xingkai" panose="02010800040101010101" pitchFamily="2" charset="-122"/>
              <a:ea typeface="STXingkai" panose="02010800040101010101" pitchFamily="2" charset="-122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8E14F09-A87F-485A-8630-CD798231E9EF}"/>
              </a:ext>
            </a:extLst>
          </p:cNvPr>
          <p:cNvSpPr/>
          <p:nvPr/>
        </p:nvSpPr>
        <p:spPr>
          <a:xfrm>
            <a:off x="3308016" y="4128546"/>
            <a:ext cx="6096000" cy="2215991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网络空间安全学院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高莹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2020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年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10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月 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14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日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847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5465176-81DE-448F-989C-9499F9D37A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-106882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ahoma"/>
              </a:rPr>
              <a:t>本次课程内容目录</a:t>
            </a:r>
            <a:endParaRPr kumimoji="1" lang="zh-CN" altLang="en-US" sz="4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itchFamily="18" charset="0"/>
              <a:ea typeface="微软雅黑" pitchFamily="34" charset="-122"/>
              <a:cs typeface="Tahoma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85FC0DA3-8704-48A8-B7C0-140F8F97AAE8}"/>
              </a:ext>
            </a:extLst>
          </p:cNvPr>
          <p:cNvGrpSpPr/>
          <p:nvPr/>
        </p:nvGrpSpPr>
        <p:grpSpPr>
          <a:xfrm>
            <a:off x="2351480" y="2060810"/>
            <a:ext cx="7152574" cy="4201037"/>
            <a:chOff x="3655393" y="1748727"/>
            <a:chExt cx="7152574" cy="4201037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68BC809F-7DDC-B845-9C51-2DE8945A32E2}"/>
                </a:ext>
              </a:extLst>
            </p:cNvPr>
            <p:cNvGrpSpPr/>
            <p:nvPr/>
          </p:nvGrpSpPr>
          <p:grpSpPr>
            <a:xfrm>
              <a:off x="3655393" y="1748727"/>
              <a:ext cx="7152574" cy="3355415"/>
              <a:chOff x="3655393" y="1225714"/>
              <a:chExt cx="7152574" cy="3355415"/>
            </a:xfrm>
          </p:grpSpPr>
          <p:sp>
            <p:nvSpPr>
              <p:cNvPr id="14" name="圆角矩形 13"/>
              <p:cNvSpPr/>
              <p:nvPr/>
            </p:nvSpPr>
            <p:spPr>
              <a:xfrm>
                <a:off x="3673153" y="2961812"/>
                <a:ext cx="7104789" cy="757997"/>
              </a:xfrm>
              <a:prstGeom prst="roundRect">
                <a:avLst>
                  <a:gd name="adj" fmla="val 50000"/>
                </a:avLst>
              </a:prstGeom>
              <a:solidFill>
                <a:srgbClr val="002060"/>
              </a:solidFill>
              <a:ln w="88900" cap="flat" cmpd="sng" algn="ctr">
                <a:gradFill flip="none" rotWithShape="1">
                  <a:gsLst>
                    <a:gs pos="0">
                      <a:srgbClr val="5B9BD5">
                        <a:tint val="66000"/>
                        <a:satMod val="160000"/>
                        <a:alpha val="0"/>
                      </a:srgbClr>
                    </a:gs>
                    <a:gs pos="50000">
                      <a:srgbClr val="FFC000"/>
                    </a:gs>
                    <a:gs pos="100000">
                      <a:srgbClr val="5B9BD5">
                        <a:tint val="23500"/>
                        <a:satMod val="160000"/>
                        <a:alpha val="0"/>
                      </a:srgbClr>
                    </a:gs>
                  </a:gsLst>
                  <a:lin ang="5400000" scaled="1"/>
                  <a:tileRect/>
                </a:gradFill>
                <a:prstDash val="solid"/>
                <a:miter lim="800000"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/>
                  <a:ea typeface="微软雅黑"/>
                  <a:cs typeface="Tahoma"/>
                </a:endParaRPr>
              </a:p>
            </p:txBody>
          </p:sp>
          <p:sp>
            <p:nvSpPr>
              <p:cNvPr id="15" name="圆角矩形 14"/>
              <p:cNvSpPr/>
              <p:nvPr/>
            </p:nvSpPr>
            <p:spPr>
              <a:xfrm>
                <a:off x="3655393" y="2100493"/>
                <a:ext cx="7104789" cy="757997"/>
              </a:xfrm>
              <a:prstGeom prst="roundRect">
                <a:avLst>
                  <a:gd name="adj" fmla="val 50000"/>
                </a:avLst>
              </a:prstGeom>
              <a:solidFill>
                <a:srgbClr val="002060"/>
              </a:solidFill>
              <a:ln w="88900" cap="flat" cmpd="sng" algn="ctr">
                <a:gradFill flip="none" rotWithShape="1">
                  <a:gsLst>
                    <a:gs pos="0">
                      <a:srgbClr val="5B9BD5">
                        <a:tint val="66000"/>
                        <a:satMod val="160000"/>
                        <a:alpha val="0"/>
                      </a:srgbClr>
                    </a:gs>
                    <a:gs pos="50000">
                      <a:srgbClr val="FFC000"/>
                    </a:gs>
                    <a:gs pos="100000">
                      <a:srgbClr val="5B9BD5">
                        <a:tint val="23500"/>
                        <a:satMod val="160000"/>
                        <a:alpha val="0"/>
                      </a:srgbClr>
                    </a:gs>
                  </a:gsLst>
                  <a:lin ang="5400000" scaled="1"/>
                  <a:tileRect/>
                </a:gradFill>
                <a:prstDash val="solid"/>
                <a:miter lim="800000"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/>
                  <a:ea typeface="微软雅黑"/>
                  <a:cs typeface="Tahoma"/>
                </a:endParaRPr>
              </a:p>
            </p:txBody>
          </p:sp>
          <p:sp>
            <p:nvSpPr>
              <p:cNvPr id="16" name="圆角矩形 15"/>
              <p:cNvSpPr/>
              <p:nvPr/>
            </p:nvSpPr>
            <p:spPr>
              <a:xfrm>
                <a:off x="3655393" y="1239174"/>
                <a:ext cx="7104789" cy="757997"/>
              </a:xfrm>
              <a:prstGeom prst="roundRect">
                <a:avLst>
                  <a:gd name="adj" fmla="val 50000"/>
                </a:avLst>
              </a:prstGeom>
              <a:solidFill>
                <a:srgbClr val="C00000"/>
              </a:solidFill>
              <a:ln w="88900" cap="flat" cmpd="sng" algn="ctr">
                <a:gradFill flip="none" rotWithShape="1">
                  <a:gsLst>
                    <a:gs pos="0">
                      <a:srgbClr val="5B9BD5">
                        <a:tint val="66000"/>
                        <a:satMod val="160000"/>
                        <a:alpha val="0"/>
                      </a:srgbClr>
                    </a:gs>
                    <a:gs pos="50000">
                      <a:srgbClr val="FFC000"/>
                    </a:gs>
                    <a:gs pos="100000">
                      <a:srgbClr val="5B9BD5">
                        <a:tint val="23500"/>
                        <a:satMod val="160000"/>
                        <a:alpha val="0"/>
                      </a:srgbClr>
                    </a:gs>
                  </a:gsLst>
                  <a:lin ang="5400000" scaled="1"/>
                  <a:tileRect/>
                </a:gradFill>
                <a:prstDash val="solid"/>
                <a:miter lim="800000"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/>
                  <a:ea typeface="微软雅黑"/>
                  <a:cs typeface="Tahoma"/>
                </a:endParaRPr>
              </a:p>
            </p:txBody>
          </p:sp>
          <p:sp>
            <p:nvSpPr>
              <p:cNvPr id="17" name="圆角矩形 16"/>
              <p:cNvSpPr/>
              <p:nvPr/>
            </p:nvSpPr>
            <p:spPr>
              <a:xfrm>
                <a:off x="3703178" y="3823132"/>
                <a:ext cx="7104789" cy="757997"/>
              </a:xfrm>
              <a:prstGeom prst="roundRect">
                <a:avLst>
                  <a:gd name="adj" fmla="val 50000"/>
                </a:avLst>
              </a:prstGeom>
              <a:solidFill>
                <a:srgbClr val="002060"/>
              </a:solidFill>
              <a:ln w="88900" cap="flat" cmpd="sng" algn="ctr">
                <a:gradFill flip="none" rotWithShape="1">
                  <a:gsLst>
                    <a:gs pos="0">
                      <a:srgbClr val="5B9BD5">
                        <a:tint val="66000"/>
                        <a:satMod val="160000"/>
                        <a:alpha val="0"/>
                      </a:srgbClr>
                    </a:gs>
                    <a:gs pos="50000">
                      <a:srgbClr val="FFC000"/>
                    </a:gs>
                    <a:gs pos="100000">
                      <a:srgbClr val="5B9BD5">
                        <a:tint val="23500"/>
                        <a:satMod val="160000"/>
                        <a:alpha val="0"/>
                      </a:srgbClr>
                    </a:gs>
                  </a:gsLst>
                  <a:lin ang="5400000" scaled="1"/>
                  <a:tileRect/>
                </a:gradFill>
                <a:prstDash val="solid"/>
                <a:miter lim="800000"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/>
                  <a:ea typeface="微软雅黑"/>
                  <a:cs typeface="Tahoma"/>
                </a:endParaRPr>
              </a:p>
            </p:txBody>
          </p:sp>
          <p:sp>
            <p:nvSpPr>
              <p:cNvPr id="18" name="TextBox 6"/>
              <p:cNvSpPr txBox="1"/>
              <p:nvPr/>
            </p:nvSpPr>
            <p:spPr>
              <a:xfrm>
                <a:off x="4711513" y="2089810"/>
                <a:ext cx="3818674" cy="707886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oadway" pitchFamily="82" charset="0"/>
                    <a:ea typeface="微软雅黑" pitchFamily="34" charset="-122"/>
                    <a:cs typeface="Tahoma"/>
                  </a:rPr>
                  <a:t>2</a:t>
                </a:r>
                <a:r>
                  <a:rPr kumimoji="0" lang="en-US" altLang="zh-CN" sz="28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Tahoma"/>
                  </a:rPr>
                  <a:t>    </a:t>
                </a:r>
                <a:r>
                  <a:rPr kumimoji="0" lang="zh-CN" altLang="en-US" sz="28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Tahoma"/>
                  </a:rPr>
                  <a:t>剩余类环和环理论</a:t>
                </a:r>
              </a:p>
            </p:txBody>
          </p:sp>
          <p:sp>
            <p:nvSpPr>
              <p:cNvPr id="19" name="TextBox 7"/>
              <p:cNvSpPr txBox="1"/>
              <p:nvPr/>
            </p:nvSpPr>
            <p:spPr>
              <a:xfrm>
                <a:off x="4711513" y="2953906"/>
                <a:ext cx="3100529" cy="707886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oadway" pitchFamily="82" charset="0"/>
                    <a:ea typeface="微软雅黑" pitchFamily="34" charset="-122"/>
                    <a:cs typeface="Tahoma"/>
                  </a:rPr>
                  <a:t>3</a:t>
                </a:r>
                <a:r>
                  <a:rPr kumimoji="0" lang="en-US" altLang="zh-CN" sz="28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Tahoma"/>
                  </a:rPr>
                  <a:t>    </a:t>
                </a:r>
                <a:r>
                  <a:rPr kumimoji="0" lang="zh-CN" altLang="en-US" sz="28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Tahoma"/>
                  </a:rPr>
                  <a:t>整除性和商环</a:t>
                </a:r>
              </a:p>
            </p:txBody>
          </p:sp>
          <p:sp>
            <p:nvSpPr>
              <p:cNvPr id="20" name="TextBox 8"/>
              <p:cNvSpPr txBox="1"/>
              <p:nvPr/>
            </p:nvSpPr>
            <p:spPr>
              <a:xfrm>
                <a:off x="4711513" y="3818002"/>
                <a:ext cx="5254965" cy="707886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oadway" pitchFamily="82" charset="0"/>
                    <a:ea typeface="微软雅黑" pitchFamily="34" charset="-122"/>
                    <a:cs typeface="Tahoma"/>
                  </a:rPr>
                  <a:t>4</a:t>
                </a:r>
                <a:r>
                  <a:rPr kumimoji="0" lang="en-US" altLang="zh-CN" sz="28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Tahoma"/>
                  </a:rPr>
                  <a:t>    </a:t>
                </a:r>
                <a:r>
                  <a:rPr kumimoji="0" lang="zh-CN" altLang="en-US" sz="28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Tahoma"/>
                  </a:rPr>
                  <a:t>多项式商环和素数阶有限域</a:t>
                </a:r>
              </a:p>
            </p:txBody>
          </p:sp>
          <p:cxnSp>
            <p:nvCxnSpPr>
              <p:cNvPr id="21" name="直接连接符 20"/>
              <p:cNvCxnSpPr/>
              <p:nvPr/>
            </p:nvCxnSpPr>
            <p:spPr>
              <a:xfrm>
                <a:off x="5352718" y="2178073"/>
                <a:ext cx="0" cy="601616"/>
              </a:xfrm>
              <a:prstGeom prst="line">
                <a:avLst/>
              </a:prstGeom>
              <a:noFill/>
              <a:ln w="6350" cap="flat" cmpd="sng" algn="ctr">
                <a:solidFill>
                  <a:srgbClr val="FFC000"/>
                </a:solidFill>
                <a:prstDash val="sysDot"/>
                <a:miter lim="800000"/>
              </a:ln>
              <a:effectLst/>
            </p:spPr>
          </p:cxnSp>
          <p:cxnSp>
            <p:nvCxnSpPr>
              <p:cNvPr id="22" name="直接连接符 21"/>
              <p:cNvCxnSpPr/>
              <p:nvPr/>
            </p:nvCxnSpPr>
            <p:spPr>
              <a:xfrm>
                <a:off x="5352718" y="3055046"/>
                <a:ext cx="0" cy="601616"/>
              </a:xfrm>
              <a:prstGeom prst="line">
                <a:avLst/>
              </a:prstGeom>
              <a:noFill/>
              <a:ln w="6350" cap="flat" cmpd="sng" algn="ctr">
                <a:solidFill>
                  <a:srgbClr val="FFC000"/>
                </a:solidFill>
                <a:prstDash val="sysDot"/>
                <a:miter lim="800000"/>
              </a:ln>
              <a:effectLst/>
            </p:spPr>
          </p:cxnSp>
          <p:cxnSp>
            <p:nvCxnSpPr>
              <p:cNvPr id="23" name="直接连接符 22"/>
              <p:cNvCxnSpPr/>
              <p:nvPr/>
            </p:nvCxnSpPr>
            <p:spPr>
              <a:xfrm>
                <a:off x="5359691" y="3919142"/>
                <a:ext cx="0" cy="601616"/>
              </a:xfrm>
              <a:prstGeom prst="line">
                <a:avLst/>
              </a:prstGeom>
              <a:noFill/>
              <a:ln w="6350" cap="flat" cmpd="sng" algn="ctr">
                <a:solidFill>
                  <a:srgbClr val="FFC000"/>
                </a:solidFill>
                <a:prstDash val="sysDot"/>
                <a:miter lim="800000"/>
              </a:ln>
              <a:effectLst/>
            </p:spPr>
          </p:cxnSp>
          <p:sp>
            <p:nvSpPr>
              <p:cNvPr id="24" name="TextBox 19"/>
              <p:cNvSpPr txBox="1"/>
              <p:nvPr/>
            </p:nvSpPr>
            <p:spPr>
              <a:xfrm>
                <a:off x="4711513" y="1225714"/>
                <a:ext cx="3100529" cy="707886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oadway" pitchFamily="82" charset="0"/>
                    <a:ea typeface="微软雅黑" pitchFamily="34" charset="-122"/>
                    <a:cs typeface="Tahoma"/>
                  </a:rPr>
                  <a:t>1</a:t>
                </a:r>
                <a:r>
                  <a:rPr kumimoji="0" lang="en-US" altLang="zh-CN" sz="28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Tahoma"/>
                  </a:rPr>
                  <a:t>    </a:t>
                </a:r>
                <a:r>
                  <a:rPr kumimoji="0" lang="zh-CN" altLang="en-US" sz="28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Tahoma"/>
                  </a:rPr>
                  <a:t>模运算和同余</a:t>
                </a:r>
              </a:p>
            </p:txBody>
          </p:sp>
          <p:cxnSp>
            <p:nvCxnSpPr>
              <p:cNvPr id="25" name="直接连接符 24"/>
              <p:cNvCxnSpPr/>
              <p:nvPr/>
            </p:nvCxnSpPr>
            <p:spPr>
              <a:xfrm>
                <a:off x="5352718" y="1326854"/>
                <a:ext cx="0" cy="601616"/>
              </a:xfrm>
              <a:prstGeom prst="line">
                <a:avLst/>
              </a:prstGeom>
              <a:noFill/>
              <a:ln w="6350" cap="flat" cmpd="sng" algn="ctr">
                <a:solidFill>
                  <a:srgbClr val="FFC000"/>
                </a:solidFill>
                <a:prstDash val="sysDot"/>
                <a:miter lim="800000"/>
              </a:ln>
              <a:effectLst/>
            </p:spPr>
          </p:cxnSp>
        </p:grpSp>
        <p:sp>
          <p:nvSpPr>
            <p:cNvPr id="12" name="TextBox 8">
              <a:extLst>
                <a:ext uri="{FF2B5EF4-FFF2-40B4-BE49-F238E27FC236}">
                  <a16:creationId xmlns:a16="http://schemas.microsoft.com/office/drawing/2014/main" id="{DEA18B87-AC4B-42CE-8B76-57F1AFA19E17}"/>
                </a:ext>
              </a:extLst>
            </p:cNvPr>
            <p:cNvSpPr txBox="1"/>
            <p:nvPr/>
          </p:nvSpPr>
          <p:spPr>
            <a:xfrm>
              <a:off x="4711513" y="5241878"/>
              <a:ext cx="4536819" cy="707886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oadway" pitchFamily="82" charset="0"/>
                  <a:ea typeface="微软雅黑" pitchFamily="34" charset="-122"/>
                  <a:cs typeface="Tahoma"/>
                </a:rPr>
                <a:t>5</a:t>
              </a:r>
              <a:r>
                <a:rPr kumimoji="0" lang="en-US" altLang="zh-CN" sz="28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Tahoma"/>
                </a:rPr>
                <a:t>    </a:t>
              </a:r>
              <a:r>
                <a:rPr kumimoji="0" lang="zh-CN" altLang="en-US" sz="28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Tahoma"/>
                </a:rPr>
                <a:t>可搜索加密的发展趋势</a:t>
              </a:r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207178B5-E5E6-438C-BD7D-46D11FE92D47}"/>
                </a:ext>
              </a:extLst>
            </p:cNvPr>
            <p:cNvCxnSpPr/>
            <p:nvPr/>
          </p:nvCxnSpPr>
          <p:spPr>
            <a:xfrm>
              <a:off x="5359691" y="5348148"/>
              <a:ext cx="0" cy="601616"/>
            </a:xfrm>
            <a:prstGeom prst="line">
              <a:avLst/>
            </a:prstGeom>
            <a:noFill/>
            <a:ln w="6350" cap="flat" cmpd="sng" algn="ctr">
              <a:solidFill>
                <a:srgbClr val="FFC000"/>
              </a:solidFill>
              <a:prstDash val="sysDot"/>
              <a:miter lim="800000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800546016"/>
      </p:ext>
    </p:extLst>
  </p:cSld>
  <p:clrMapOvr>
    <a:masterClrMapping/>
  </p:clrMapOvr>
  <p:transition>
    <p:diamond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5465176-81DE-448F-989C-9499F9D37A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-106882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4000" kern="0" dirty="0">
                <a:solidFill>
                  <a:prstClr val="white"/>
                </a:solidFill>
                <a:latin typeface="Times New Roman" pitchFamily="18" charset="0"/>
                <a:ea typeface="微软雅黑" pitchFamily="34" charset="-122"/>
                <a:cs typeface="Tahoma"/>
              </a:rPr>
              <a:t>回顾</a:t>
            </a:r>
            <a:r>
              <a:rPr kumimoji="1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ahoma"/>
              </a:rPr>
              <a:t>模运算</a:t>
            </a:r>
            <a:endParaRPr kumimoji="1" lang="zh-CN" altLang="en-US" sz="4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itchFamily="18" charset="0"/>
              <a:ea typeface="微软雅黑" pitchFamily="34" charset="-122"/>
              <a:cs typeface="Tahom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551230" y="1412720"/>
                <a:ext cx="11089540" cy="44117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marR="0" lvl="0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l"/>
                  <a:tabLst/>
                  <a:defRPr/>
                </a:pPr>
                <a:r>
                  <a:rPr kumimoji="0" lang="zh-CN" altLang="en-US" sz="2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ahoma"/>
                  </a:rPr>
                  <a:t>现在几点钟？</a:t>
                </a:r>
              </a:p>
              <a:p>
                <a:pPr marL="457200" marR="0" lvl="0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l"/>
                  <a:tabLst/>
                  <a:defRPr/>
                </a:pP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ahoma"/>
                  </a:rPr>
                  <a:t>今天星期几？</a:t>
                </a:r>
              </a:p>
              <a:p>
                <a:pPr marL="457200" marR="0" lvl="0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l"/>
                  <a:tabLst/>
                  <a:defRPr/>
                </a:pP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ahoma"/>
                  </a:rPr>
                  <a:t>生活中人们关注整数用某一固定的数去除所得的</a:t>
                </a: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ahoma"/>
                  </a:rPr>
                  <a:t>余数</a:t>
                </a: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ahoma"/>
                  </a:rPr>
                  <a:t>，而不是关注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ahoma"/>
                  </a:rPr>
                  <a:t>   整数本身</a:t>
                </a:r>
                <a:endParaRPr kumimoji="0" lang="en-US" altLang="zh-CN" sz="28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ahoma"/>
                </a:endParaRPr>
              </a:p>
              <a:p>
                <a:pPr marL="457200" marR="0" lvl="0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l"/>
                  <a:tabLst/>
                  <a:defRPr/>
                </a:pP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ahoma"/>
                  </a:rPr>
                  <a:t>模运算的含义：取得两个整数相除后结果的余数，记作</a:t>
                </a:r>
                <a:r>
                  <a:rPr kumimoji="0" lang="en-US" altLang="zh-CN" sz="2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ahoma"/>
                  </a:rPr>
                  <a:t>mod</a:t>
                </a:r>
              </a:p>
              <a:p>
                <a:pPr marL="457200" marR="0" lvl="0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l"/>
                  <a:tabLst/>
                  <a:defRPr/>
                </a:pP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ahoma"/>
                  </a:rPr>
                  <a:t>对</a:t>
                </a:r>
                <a:r>
                  <a:rPr kumimoji="0" lang="zh-CN" altLang="en-US" sz="2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ahoma"/>
                  </a:rPr>
                  <a:t>正整数</a:t>
                </a:r>
                <a14:m>
                  <m:oMath xmlns:m="http://schemas.openxmlformats.org/officeDocument/2006/math">
                    <m:r>
                      <a:rPr kumimoji="0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𝑛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ahoma"/>
                  </a:rPr>
                  <a:t>和整数</a:t>
                </a:r>
                <a14:m>
                  <m:oMath xmlns:m="http://schemas.openxmlformats.org/officeDocument/2006/math">
                    <m:r>
                      <a:rPr kumimoji="0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𝑎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ahoma"/>
                  </a:rPr>
                  <a:t>， </a:t>
                </a:r>
                <a:r>
                  <a:rPr kumimoji="0" lang="zh-CN" altLang="en-US" sz="2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ahoma"/>
                  </a:rPr>
                  <a:t>定义模运算：</a:t>
                </a:r>
                <a14:m>
                  <m:oMath xmlns:m="http://schemas.openxmlformats.org/officeDocument/2006/math">
                    <m:r>
                      <a:rPr kumimoji="0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𝑎</m:t>
                    </m:r>
                    <m:r>
                      <a:rPr kumimoji="0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0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𝑚𝑜𝑑</m:t>
                    </m:r>
                    <m:r>
                      <a:rPr kumimoji="0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0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𝑛</m:t>
                    </m:r>
                  </m:oMath>
                </a14:m>
                <a:r>
                  <a:rPr kumimoji="0" lang="en-US" altLang="zh-CN" sz="2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ahoma"/>
                  </a:rPr>
                  <a:t>, </a:t>
                </a:r>
                <a:r>
                  <a:rPr kumimoji="0" lang="zh-CN" altLang="en-US" sz="2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ahoma"/>
                  </a:rPr>
                  <a:t>表示</a:t>
                </a:r>
                <a14:m>
                  <m:oMath xmlns:m="http://schemas.openxmlformats.org/officeDocument/2006/math">
                    <m:r>
                      <a:rPr kumimoji="0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𝑎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ahoma"/>
                  </a:rPr>
                  <a:t>除以</a:t>
                </a:r>
                <a14:m>
                  <m:oMath xmlns:m="http://schemas.openxmlformats.org/officeDocument/2006/math">
                    <m:r>
                      <a:rPr kumimoji="0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𝑛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ahoma"/>
                  </a:rPr>
                  <a:t>的余数</a:t>
                </a:r>
                <a:endParaRPr kumimoji="0" lang="en-US" altLang="zh-CN" sz="2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ahoma"/>
                </a:endParaRPr>
              </a:p>
              <a:p>
                <a:pPr marL="457200" marR="0" lvl="0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l"/>
                  <a:tabLst/>
                  <a:defRPr/>
                </a:pP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ahoma"/>
                  </a:rPr>
                  <a:t>模</a:t>
                </a:r>
                <a:r>
                  <a:rPr kumimoji="0" lang="zh-CN" altLang="en-US" sz="2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ahoma"/>
                  </a:rPr>
                  <a:t>运算的性质：</a:t>
                </a:r>
                <a:endPara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ahoma"/>
                </a:endParaRPr>
              </a:p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zh-CN" altLang="en-US" sz="2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①</m:t>
                      </m:r>
                      <m:r>
                        <a:rPr kumimoji="0" lang="zh-CN" altLang="en-US" sz="2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0" lang="zh-CN" altLang="en-US" sz="2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（</m:t>
                      </m:r>
                      <m:r>
                        <a:rPr kumimoji="0" lang="en-US" altLang="zh-CN" sz="2800" b="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𝑎</m:t>
                      </m:r>
                      <m:r>
                        <a:rPr kumimoji="0" lang="en-US" altLang="zh-CN" sz="2800" b="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0" lang="en-US" altLang="zh-CN" sz="2800" b="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𝑏</m:t>
                      </m:r>
                      <m:r>
                        <a:rPr kumimoji="0" lang="zh-CN" altLang="en-US" sz="2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）</m:t>
                      </m:r>
                      <m:r>
                        <a:rPr kumimoji="0" lang="en-US" altLang="zh-CN" sz="2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𝑚𝑜𝑑</m:t>
                      </m:r>
                      <m:r>
                        <a:rPr kumimoji="0" lang="en-US" altLang="zh-CN" sz="2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0" lang="en-US" altLang="zh-CN" sz="2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𝑛</m:t>
                      </m:r>
                      <m:r>
                        <a:rPr kumimoji="0" lang="en-US" altLang="zh-CN" sz="2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=[(</m:t>
                      </m:r>
                      <m:r>
                        <a:rPr kumimoji="0" lang="en-US" altLang="zh-CN" sz="2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𝑎</m:t>
                      </m:r>
                      <m:r>
                        <a:rPr kumimoji="0" lang="en-US" altLang="zh-CN" sz="2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0" lang="en-US" altLang="zh-CN" sz="2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𝑚𝑜𝑑</m:t>
                      </m:r>
                      <m:r>
                        <a:rPr kumimoji="0" lang="en-US" altLang="zh-CN" sz="2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0" lang="en-US" altLang="zh-CN" sz="2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𝑛</m:t>
                      </m:r>
                      <m:r>
                        <a:rPr kumimoji="0" lang="en-US" altLang="zh-CN" sz="2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)+(</m:t>
                      </m:r>
                      <m:r>
                        <a:rPr kumimoji="0" lang="en-US" altLang="zh-CN" sz="2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𝑏</m:t>
                      </m:r>
                      <m:r>
                        <a:rPr kumimoji="0" lang="en-US" altLang="zh-CN" sz="2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0" lang="en-US" altLang="zh-CN" sz="2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𝑚𝑜𝑑</m:t>
                      </m:r>
                      <m:r>
                        <a:rPr kumimoji="0" lang="en-US" altLang="zh-CN" sz="2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0" lang="en-US" altLang="zh-CN" sz="2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𝑛</m:t>
                      </m:r>
                      <m:r>
                        <a:rPr kumimoji="0" lang="en-US" altLang="zh-CN" sz="2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)] </m:t>
                      </m:r>
                      <m:r>
                        <a:rPr kumimoji="0" lang="en-US" altLang="zh-CN" sz="2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𝑚𝑜𝑑</m:t>
                      </m:r>
                      <m:r>
                        <a:rPr kumimoji="0" lang="en-US" altLang="zh-CN" sz="2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0" lang="en-US" altLang="zh-CN" sz="2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𝑛</m:t>
                      </m:r>
                    </m:oMath>
                  </m:oMathPara>
                </a14:m>
                <a:endParaRPr kumimoji="0" lang="en-US" altLang="zh-CN" sz="28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ahoma"/>
                </a:endParaRPr>
              </a:p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zh-CN" altLang="en-US" sz="2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②</m:t>
                      </m:r>
                      <m:r>
                        <a:rPr kumimoji="0" lang="zh-CN" altLang="en-US" sz="2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0" lang="zh-CN" altLang="en-US" sz="2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（</m:t>
                      </m:r>
                      <m:r>
                        <a:rPr kumimoji="0" lang="en-US" altLang="zh-CN" sz="28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𝑎</m:t>
                      </m:r>
                      <m:r>
                        <a:rPr kumimoji="0" lang="en-US" altLang="zh-CN" sz="2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r>
                        <a:rPr kumimoji="0" lang="en-US" altLang="zh-CN" sz="28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𝑏</m:t>
                      </m:r>
                      <m:r>
                        <a:rPr kumimoji="0" lang="zh-CN" altLang="en-US" sz="2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）</m:t>
                      </m:r>
                      <m:r>
                        <a:rPr kumimoji="0" lang="en-US" altLang="zh-CN" sz="2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𝑚𝑜𝑑</m:t>
                      </m:r>
                      <m:r>
                        <a:rPr kumimoji="0" lang="en-US" altLang="zh-CN" sz="2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0" lang="en-US" altLang="zh-CN" sz="2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𝑛</m:t>
                      </m:r>
                      <m:r>
                        <a:rPr kumimoji="0" lang="en-US" altLang="zh-CN" sz="2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=[(</m:t>
                      </m:r>
                      <m:r>
                        <a:rPr kumimoji="0" lang="en-US" altLang="zh-CN" sz="2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𝑎</m:t>
                      </m:r>
                      <m:r>
                        <a:rPr kumimoji="0" lang="en-US" altLang="zh-CN" sz="2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0" lang="en-US" altLang="zh-CN" sz="2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𝑚𝑜𝑑</m:t>
                      </m:r>
                      <m:r>
                        <a:rPr kumimoji="0" lang="en-US" altLang="zh-CN" sz="2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0" lang="en-US" altLang="zh-CN" sz="2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𝑛</m:t>
                      </m:r>
                      <m:r>
                        <a:rPr kumimoji="0" lang="en-US" altLang="zh-CN" sz="2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)−(</m:t>
                      </m:r>
                      <m:r>
                        <a:rPr kumimoji="0" lang="en-US" altLang="zh-CN" sz="2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𝑏</m:t>
                      </m:r>
                      <m:r>
                        <a:rPr kumimoji="0" lang="en-US" altLang="zh-CN" sz="2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0" lang="en-US" altLang="zh-CN" sz="2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𝑚𝑜𝑑</m:t>
                      </m:r>
                      <m:r>
                        <a:rPr kumimoji="0" lang="en-US" altLang="zh-CN" sz="2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0" lang="en-US" altLang="zh-CN" sz="2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𝑛</m:t>
                      </m:r>
                      <m:r>
                        <a:rPr kumimoji="0" lang="en-US" altLang="zh-CN" sz="2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)] </m:t>
                      </m:r>
                      <m:r>
                        <a:rPr kumimoji="0" lang="en-US" altLang="zh-CN" sz="2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𝑚𝑜𝑑</m:t>
                      </m:r>
                      <m:r>
                        <a:rPr kumimoji="0" lang="en-US" altLang="zh-CN" sz="2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0" lang="en-US" altLang="zh-CN" sz="2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𝑛</m:t>
                      </m:r>
                    </m:oMath>
                  </m:oMathPara>
                </a14:m>
                <a:endParaRPr kumimoji="0" lang="en-US" altLang="zh-CN" sz="28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ahoma"/>
                </a:endParaRPr>
              </a:p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zh-CN" altLang="en-US" sz="2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③</m:t>
                      </m:r>
                      <m:r>
                        <a:rPr kumimoji="0" lang="zh-CN" altLang="en-US" sz="2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0" lang="zh-CN" altLang="en-US" sz="2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（</m:t>
                      </m:r>
                      <m:r>
                        <a:rPr kumimoji="0" lang="en-US" altLang="zh-CN" sz="28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𝑎</m:t>
                      </m:r>
                      <m:r>
                        <a:rPr kumimoji="0" lang="en-US" altLang="zh-CN" sz="2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kumimoji="0" lang="en-US" altLang="zh-CN" sz="28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𝑏</m:t>
                      </m:r>
                      <m:r>
                        <a:rPr kumimoji="0" lang="zh-CN" altLang="en-US" sz="2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）</m:t>
                      </m:r>
                      <m:r>
                        <a:rPr kumimoji="0" lang="en-US" altLang="zh-CN" sz="2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𝑚𝑜𝑑</m:t>
                      </m:r>
                      <m:r>
                        <a:rPr kumimoji="0" lang="en-US" altLang="zh-CN" sz="2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0" lang="en-US" altLang="zh-CN" sz="2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𝑛</m:t>
                      </m:r>
                      <m:r>
                        <a:rPr kumimoji="0" lang="en-US" altLang="zh-CN" sz="2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=[(</m:t>
                      </m:r>
                      <m:r>
                        <a:rPr kumimoji="0" lang="en-US" altLang="zh-CN" sz="2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𝑎</m:t>
                      </m:r>
                      <m:r>
                        <a:rPr kumimoji="0" lang="en-US" altLang="zh-CN" sz="2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0" lang="en-US" altLang="zh-CN" sz="2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𝑚𝑜𝑑</m:t>
                      </m:r>
                      <m:r>
                        <a:rPr kumimoji="0" lang="en-US" altLang="zh-CN" sz="2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0" lang="en-US" altLang="zh-CN" sz="2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𝑛</m:t>
                      </m:r>
                      <m:r>
                        <a:rPr kumimoji="0" lang="en-US" altLang="zh-CN" sz="2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a:rPr kumimoji="0" lang="en-US" altLang="zh-CN" sz="2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kumimoji="0" lang="en-US" altLang="zh-CN" sz="2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0" lang="en-US" altLang="zh-CN" sz="2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𝑏</m:t>
                      </m:r>
                      <m:r>
                        <a:rPr kumimoji="0" lang="en-US" altLang="zh-CN" sz="2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0" lang="en-US" altLang="zh-CN" sz="2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𝑚𝑜𝑑</m:t>
                      </m:r>
                      <m:r>
                        <a:rPr kumimoji="0" lang="en-US" altLang="zh-CN" sz="2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0" lang="en-US" altLang="zh-CN" sz="2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𝑛</m:t>
                      </m:r>
                      <m:r>
                        <a:rPr kumimoji="0" lang="en-US" altLang="zh-CN" sz="2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)] </m:t>
                      </m:r>
                      <m:r>
                        <a:rPr kumimoji="0" lang="en-US" altLang="zh-CN" sz="2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𝑚𝑜𝑑</m:t>
                      </m:r>
                      <m:r>
                        <a:rPr kumimoji="0" lang="en-US" altLang="zh-CN" sz="2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0" lang="en-US" altLang="zh-CN" sz="2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𝑛</m:t>
                      </m:r>
                    </m:oMath>
                  </m:oMathPara>
                </a14:m>
                <a:endPara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ahoma"/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230" y="1412720"/>
                <a:ext cx="11089540" cy="4411785"/>
              </a:xfrm>
              <a:prstGeom prst="rect">
                <a:avLst/>
              </a:prstGeom>
              <a:blipFill>
                <a:blip r:embed="rId3"/>
                <a:stretch>
                  <a:fillRect l="-934" t="-19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9842943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5465176-81DE-448F-989C-9499F9D37A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-106882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ahoma"/>
              </a:rPr>
              <a:t>模运算的重要性质</a:t>
            </a:r>
            <a:endParaRPr kumimoji="1" lang="zh-CN" altLang="en-US" sz="4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itchFamily="18" charset="0"/>
              <a:ea typeface="微软雅黑" pitchFamily="34" charset="-122"/>
              <a:cs typeface="Tahom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1127310" y="1494837"/>
                <a:ext cx="8929240" cy="9541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marR="0" lvl="0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l"/>
                  <a:tabLst/>
                  <a:defRPr/>
                </a:pPr>
                <a:r>
                  <a:rPr kumimoji="0" lang="zh-CN" altLang="en-US" sz="2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ahoma"/>
                  </a:rPr>
                  <a:t>对正整数</a:t>
                </a:r>
                <a14:m>
                  <m:oMath xmlns:m="http://schemas.openxmlformats.org/officeDocument/2006/math">
                    <m:r>
                      <a:rPr kumimoji="0" lang="en-US" altLang="zh-CN" sz="2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𝑛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ahoma"/>
                  </a:rPr>
                  <a:t>和整数</a:t>
                </a:r>
                <a14:m>
                  <m:oMath xmlns:m="http://schemas.openxmlformats.org/officeDocument/2006/math">
                    <m:r>
                      <a:rPr kumimoji="0" lang="en-US" altLang="zh-CN" sz="2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𝑎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ahoma"/>
                  </a:rPr>
                  <a:t>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2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kumimoji="0" lang="en-US" altLang="zh-CN" sz="2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𝑎</m:t>
                        </m:r>
                      </m:e>
                      <m:sup>
                        <m:r>
                          <a:rPr kumimoji="0" lang="en-US" altLang="zh-CN" sz="2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−1</m:t>
                        </m:r>
                      </m:sup>
                    </m:sSup>
                    <m:r>
                      <a:rPr kumimoji="0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0" lang="en-US" altLang="zh-CN" sz="2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𝑚𝑜𝑑</m:t>
                    </m:r>
                    <m:r>
                      <a:rPr kumimoji="0" lang="en-US" altLang="zh-CN" sz="2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0" lang="en-US" altLang="zh-CN" sz="2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𝑛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ahoma"/>
                  </a:rPr>
                  <a:t> 存在的充分必要条件为</a:t>
                </a:r>
                <a14:m>
                  <m:oMath xmlns:m="http://schemas.openxmlformats.org/officeDocument/2006/math">
                    <m:r>
                      <a:rPr kumimoji="0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</m:t>
                    </m:r>
                    <m:r>
                      <a:rPr kumimoji="0" lang="en-US" altLang="zh-CN" sz="2800" b="0" i="1" u="none" strike="noStrike" kern="1200" cap="none" spc="0" normalizeH="0" baseline="0" noProof="0" dirty="0" err="1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𝑎</m:t>
                    </m:r>
                    <m:r>
                      <a:rPr kumimoji="0" lang="en-US" altLang="zh-CN" sz="2800" b="0" i="1" u="none" strike="noStrike" kern="1200" cap="none" spc="0" normalizeH="0" baseline="0" noProof="0" dirty="0" err="1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r>
                      <a:rPr kumimoji="0" lang="en-US" altLang="zh-CN" sz="2800" b="0" i="1" u="none" strike="noStrike" kern="1200" cap="none" spc="0" normalizeH="0" baseline="0" noProof="0" dirty="0" err="1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𝑛</m:t>
                    </m:r>
                    <m:r>
                      <a:rPr kumimoji="0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)=1</m:t>
                    </m:r>
                  </m:oMath>
                </a14:m>
                <a:endPara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ahoma"/>
                </a:endParaRP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310" y="1494837"/>
                <a:ext cx="8929240" cy="954107"/>
              </a:xfrm>
              <a:prstGeom prst="rect">
                <a:avLst/>
              </a:prstGeom>
              <a:blipFill>
                <a:blip r:embed="rId2"/>
                <a:stretch>
                  <a:fillRect l="-1229" t="-8280" r="-1024" b="-146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1271330" y="2636356"/>
                <a:ext cx="781867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2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kumimoji="0" lang="en-US" altLang="zh-CN" sz="2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𝑎</m:t>
                        </m:r>
                      </m:e>
                      <m:sup>
                        <m:r>
                          <a:rPr kumimoji="0" lang="en-US" altLang="zh-CN" sz="2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−1</m:t>
                        </m:r>
                      </m:sup>
                    </m:sSup>
                    <m:r>
                      <a:rPr kumimoji="0" lang="en-US" altLang="zh-CN" sz="2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0" lang="en-US" altLang="zh-CN" sz="2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𝑚𝑜𝑑</m:t>
                    </m:r>
                    <m:r>
                      <a:rPr kumimoji="0" lang="en-US" altLang="zh-CN" sz="2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0" lang="en-US" altLang="zh-CN" sz="2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𝑛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ahoma"/>
                  </a:rPr>
                  <a:t> </a:t>
                </a:r>
                <a:r>
                  <a:rPr kumimoji="0" lang="zh-CN" altLang="en-US" sz="2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ahoma"/>
                  </a:rPr>
                  <a:t>存在</a:t>
                </a:r>
                <a14:m>
                  <m:oMath xmlns:m="http://schemas.openxmlformats.org/officeDocument/2006/math">
                    <m:r>
                      <a:rPr kumimoji="0" lang="en-US" altLang="zh-CN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kumimoji="0" lang="zh-CN" altLang="en-US" sz="2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存在整数</m:t>
                    </m:r>
                    <m:r>
                      <a:rPr kumimoji="0" lang="en-US" altLang="zh-CN" sz="2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𝑏</m:t>
                    </m:r>
                    <m:r>
                      <a:rPr kumimoji="0" lang="zh-CN" altLang="en-US" sz="2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使得</m:t>
                    </m:r>
                  </m:oMath>
                </a14:m>
                <a:r>
                  <a:rPr kumimoji="0" lang="zh-CN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굴림"/>
                    <a:ea typeface="굴림"/>
                    <a:cs typeface="Tahoma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𝑎𝑏</m:t>
                    </m:r>
                    <m:r>
                      <a:rPr kumimoji="0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  <m:r>
                      <a:rPr kumimoji="0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𝑚𝑜𝑑</m:t>
                    </m:r>
                    <m:r>
                      <a:rPr kumimoji="0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  <m:r>
                      <a:rPr kumimoji="0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0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=1</m:t>
                    </m:r>
                  </m:oMath>
                </a14:m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/>
                  <a:ea typeface="굴림"/>
                  <a:cs typeface="Tahoma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1330" y="2636356"/>
                <a:ext cx="7818679" cy="523220"/>
              </a:xfrm>
              <a:prstGeom prst="rect">
                <a:avLst/>
              </a:prstGeom>
              <a:blipFill>
                <a:blip r:embed="rId3"/>
                <a:stretch>
                  <a:fillRect t="-15116" b="-27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3737425" y="3234207"/>
                <a:ext cx="479349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altLang="zh-CN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kumimoji="0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𝑎𝑏</m:t>
                    </m:r>
                    <m:r>
                      <a:rPr kumimoji="0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−1=</m:t>
                    </m:r>
                    <m:r>
                      <a:rPr kumimoji="0" lang="en-US" altLang="zh-CN" sz="2800" b="0" i="1" u="none" strike="noStrike" kern="1200" cap="none" spc="0" normalizeH="0" baseline="0" noProof="0" dirty="0" err="1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𝑐𝑛</m:t>
                    </m:r>
                  </m:oMath>
                </a14:m>
                <a:r>
                  <a:rPr kumimoji="0" lang="en-US" altLang="zh-CN" sz="2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굴림"/>
                    <a:ea typeface="굴림"/>
                    <a:cs typeface="Tahoma"/>
                  </a:rPr>
                  <a:t>, </a:t>
                </a: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Tahoma"/>
                  </a:rPr>
                  <a:t>对某个整数</a:t>
                </a:r>
                <a14:m>
                  <m:oMath xmlns:m="http://schemas.openxmlformats.org/officeDocument/2006/math">
                    <m:r>
                      <a:rPr kumimoji="0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/>
                  <a:ea typeface="굴림"/>
                  <a:cs typeface="Tahoma"/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7425" y="3234207"/>
                <a:ext cx="4793492" cy="523220"/>
              </a:xfrm>
              <a:prstGeom prst="rect">
                <a:avLst/>
              </a:prstGeom>
              <a:blipFill>
                <a:blip r:embed="rId4"/>
                <a:stretch>
                  <a:fillRect t="-15294" b="-305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3647660" y="3757427"/>
                <a:ext cx="366901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kumimoji="0" lang="en-US" altLang="zh-CN" sz="2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0" lang="en-US" altLang="zh-CN" sz="2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kumimoji="0" lang="en-US" altLang="zh-CN" sz="2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0" lang="en-US" altLang="zh-CN" sz="2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kumimoji="0" lang="en-US" altLang="zh-CN" sz="2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)|</m:t>
                      </m:r>
                      <m:r>
                        <a:rPr kumimoji="0" lang="en-US" altLang="zh-CN" sz="2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𝑎𝑏</m:t>
                      </m:r>
                      <m:r>
                        <a:rPr kumimoji="0" lang="en-US" altLang="zh-CN" sz="2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kumimoji="0" lang="en-US" altLang="zh-CN" sz="2800" b="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𝑐𝑛</m:t>
                      </m:r>
                      <m:r>
                        <a:rPr kumimoji="0" lang="en-US" altLang="zh-CN" sz="2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/>
                  <a:ea typeface="굴림"/>
                  <a:cs typeface="Tahoma"/>
                </a:endParaRPr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7660" y="3757427"/>
                <a:ext cx="3669018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3737425" y="4297903"/>
                <a:ext cx="234769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kumimoji="0" lang="en-US" altLang="zh-CN" sz="2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0" lang="en-US" altLang="zh-CN" sz="2800" b="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kumimoji="0" lang="en-US" altLang="zh-CN" sz="2800" b="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0" lang="en-US" altLang="zh-CN" sz="2800" b="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kumimoji="0" lang="en-US" altLang="zh-CN" sz="2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)=1</m:t>
                      </m:r>
                    </m:oMath>
                  </m:oMathPara>
                </a14:m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/>
                  <a:ea typeface="굴림"/>
                  <a:cs typeface="Tahoma"/>
                </a:endParaRPr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7425" y="4297903"/>
                <a:ext cx="2347694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1127310" y="4874021"/>
                <a:ext cx="182473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0" lang="en-US" altLang="zh-CN" sz="2800" b="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kumimoji="0" lang="en-US" altLang="zh-CN" sz="2800" b="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0" lang="en-US" altLang="zh-CN" sz="2800" b="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kumimoji="0" lang="en-US" altLang="zh-CN" sz="2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)=1</m:t>
                      </m:r>
                    </m:oMath>
                  </m:oMathPara>
                </a14:m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/>
                  <a:ea typeface="굴림"/>
                  <a:cs typeface="Tahoma"/>
                </a:endParaRPr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310" y="4874021"/>
                <a:ext cx="1824730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2952040" y="4874021"/>
                <a:ext cx="4700005" cy="5232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⟹</m:t>
                      </m:r>
                      <m:r>
                        <a:rPr kumimoji="0" lang="zh-CN" alt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存在</m:t>
                      </m:r>
                      <m:r>
                        <m:rPr>
                          <m:sty m:val="p"/>
                        </m:rPr>
                        <a:rPr kumimoji="0" lang="en-US" altLang="zh-CN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u</m:t>
                      </m:r>
                      <m:r>
                        <a:rPr kumimoji="0" lang="en-US" altLang="zh-CN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 </m:t>
                      </m:r>
                      <m:r>
                        <m:rPr>
                          <m:sty m:val="p"/>
                        </m:rPr>
                        <a:rPr kumimoji="0" lang="en-US" altLang="zh-CN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v</m:t>
                      </m:r>
                      <m:r>
                        <a:rPr kumimoji="0" lang="zh-CN" alt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满足</m:t>
                      </m:r>
                      <m:r>
                        <a:rPr kumimoji="0" lang="en-US" altLang="zh-CN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𝑎𝑢</m:t>
                      </m:r>
                      <m:r>
                        <a:rPr kumimoji="0" lang="en-US" altLang="zh-CN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0" lang="en-US" altLang="zh-CN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𝑛𝑣</m:t>
                      </m:r>
                      <m:r>
                        <a:rPr kumimoji="0" lang="en-US" altLang="zh-CN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=1</m:t>
                      </m:r>
                    </m:oMath>
                  </m:oMathPara>
                </a14:m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Tahoma"/>
                </a:endParaRPr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2040" y="4874021"/>
                <a:ext cx="4700005" cy="52328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2988689" y="6054500"/>
                <a:ext cx="289233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altLang="zh-CN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굴림"/>
                    <a:ea typeface="굴림"/>
                    <a:cs typeface="Tahoma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𝑎𝑢</m:t>
                    </m:r>
                    <m:r>
                      <a:rPr kumimoji="0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  <m:r>
                      <a:rPr kumimoji="0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𝑚𝑜𝑑</m:t>
                    </m:r>
                    <m:r>
                      <a:rPr kumimoji="0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  <m:r>
                      <a:rPr kumimoji="0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0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/>
                  <a:ea typeface="굴림"/>
                  <a:cs typeface="Tahoma"/>
                </a:endParaRPr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8689" y="6054500"/>
                <a:ext cx="2892330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2970648" y="5467460"/>
                <a:ext cx="332347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altLang="zh-CN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굴림"/>
                    <a:ea typeface="굴림"/>
                    <a:cs typeface="Tahoma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0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| </m:t>
                    </m:r>
                    <m:r>
                      <a:rPr kumimoji="0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𝑎𝑢</m:t>
                    </m:r>
                    <m:r>
                      <a:rPr kumimoji="0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−1=−</m:t>
                    </m:r>
                    <m:r>
                      <a:rPr kumimoji="0" lang="en-US" altLang="zh-CN" sz="2800" b="0" i="1" u="none" strike="noStrike" kern="1200" cap="none" spc="0" normalizeH="0" baseline="0" noProof="0" dirty="0" err="1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𝑛𝑣</m:t>
                    </m:r>
                  </m:oMath>
                </a14:m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/>
                  <a:ea typeface="굴림"/>
                  <a:cs typeface="Tahoma"/>
                </a:endParaRPr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0648" y="5467460"/>
                <a:ext cx="3323474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5679806" y="6012348"/>
                <a:ext cx="299466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altLang="zh-CN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굴림"/>
                    <a:ea typeface="굴림"/>
                    <a:cs typeface="Tahoma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𝑎</m:t>
                    </m:r>
                    <m:r>
                      <a:rPr kumimoji="0" lang="en-US" altLang="zh-CN" sz="2800" b="0" i="1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0" lang="en-US" altLang="zh-CN" sz="2800" b="0" i="1" u="none" strike="noStrike" kern="1200" cap="none" spc="0" normalizeH="0" baseline="3000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1</m:t>
                    </m:r>
                    <m:r>
                      <a:rPr kumimoji="0" lang="en-US" altLang="zh-CN" sz="2800" b="0" i="1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  <m:r>
                      <a:rPr kumimoji="0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𝑚𝑜𝑑</m:t>
                    </m:r>
                    <m:r>
                      <a:rPr kumimoji="0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  <m:r>
                      <a:rPr kumimoji="0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0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Tahoma"/>
                  </a:rPr>
                  <a:t>存在</a:t>
                </a:r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9806" y="6012348"/>
                <a:ext cx="2994666" cy="523220"/>
              </a:xfrm>
              <a:prstGeom prst="rect">
                <a:avLst/>
              </a:prstGeom>
              <a:blipFill>
                <a:blip r:embed="rId11"/>
                <a:stretch>
                  <a:fillRect t="-15116" r="-3259" b="-27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7217128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219200" y="635000"/>
                <a:ext cx="9753600" cy="2143125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Microsoft Yahei" panose="020B0503020204020204" pitchFamily="34" charset="-122"/>
                    <a:ea typeface="Microsoft Yahei" panose="020B0503020204020204" pitchFamily="34" charset="-122"/>
                    <a:cs typeface="Tahoma"/>
                    <a:sym typeface="Microsoft Yahei" panose="020B0503020204020204" pitchFamily="34" charset="-122"/>
                  </a:rPr>
                  <a:t>计算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altLang="zh-CN" sz="2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fPr>
                      <m:num>
                        <m:r>
                          <a:rPr kumimoji="0" lang="en-US" altLang="zh-CN" sz="2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7</m:t>
                        </m:r>
                      </m:num>
                      <m:den>
                        <m:r>
                          <a:rPr kumimoji="0" lang="en-US" altLang="zh-CN" sz="2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8</m:t>
                        </m:r>
                      </m:den>
                    </m:f>
                    <m:r>
                      <a:rPr kumimoji="0" lang="en-US" altLang="zh-CN" sz="26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 </m:t>
                    </m:r>
                    <m:r>
                      <a:rPr kumimoji="0" lang="en-US" altLang="zh-CN" sz="26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𝑚𝑜𝑑</m:t>
                    </m:r>
                    <m:r>
                      <a:rPr kumimoji="0" lang="en-US" altLang="zh-CN" sz="26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 11</m:t>
                    </m:r>
                  </m:oMath>
                </a14:m>
                <a:endParaRPr kumimoji="0" lang="en-US" altLang="zh-CN" sz="26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Tahoma"/>
                  <a:sym typeface="Microsoft Yahei" panose="020B0503020204020204" pitchFamily="34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Tahoma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9"/>
                </p:custDataLst>
              </p:nvPr>
            </p:nvSpPr>
            <p:spPr>
              <a:xfrm>
                <a:off x="1219200" y="635000"/>
                <a:ext cx="9753600" cy="2143125"/>
              </a:xfrm>
              <a:prstGeom prst="rect">
                <a:avLst/>
              </a:prstGeom>
              <a:blipFill>
                <a:blip r:embed="rId20"/>
                <a:stretch>
                  <a:fillRect l="-1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  <a:sym typeface="Microsoft Yahei" panose="020B0503020204020204" pitchFamily="34" charset="-122"/>
              </a:rPr>
              <a:t>49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Tahoma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  <a:sym typeface="Microsoft Yahei" panose="020B0503020204020204" pitchFamily="34" charset="-122"/>
              </a:rPr>
              <a:t>5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Tahoma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  <a:sym typeface="Microsoft Yahei" panose="020B0503020204020204" pitchFamily="34" charset="-122"/>
              </a:rPr>
              <a:t>7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Tahoma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  <a:sym typeface="Microsoft Yahei" panose="020B0503020204020204" pitchFamily="34" charset="-122"/>
              </a:rPr>
              <a:t>不存在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sm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itchFamily="2" charset="2"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Tahoma" pitchFamily="34" charset="0"/>
                <a:sym typeface="Microsoft Yahei" panose="020B0503020204020204" pitchFamily="34" charset="-122"/>
              </a:rPr>
              <a:t>A</a:t>
            </a:r>
            <a:endParaRPr kumimoji="1" lang="zh-CN" altLang="en-US" sz="16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Tahoma" pitchFamily="34" charset="0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5716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sm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itchFamily="2" charset="2"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Tahoma" pitchFamily="34" charset="0"/>
                <a:sym typeface="Microsoft Yahei" panose="020B0503020204020204" pitchFamily="34" charset="-122"/>
              </a:rPr>
              <a:t>B</a:t>
            </a:r>
            <a:endParaRPr kumimoji="1" lang="zh-CN" altLang="en-US" sz="16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Tahoma" pitchFamily="34" charset="0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sm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itchFamily="2" charset="2"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Tahoma" pitchFamily="34" charset="0"/>
                <a:sym typeface="Microsoft Yahei" panose="020B0503020204020204" pitchFamily="34" charset="-122"/>
              </a:rPr>
              <a:t>C</a:t>
            </a:r>
            <a:endParaRPr kumimoji="1" lang="zh-CN" altLang="en-US" sz="16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Tahoma" pitchFamily="34" charset="0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sm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itchFamily="2" charset="2"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Tahoma" pitchFamily="34" charset="0"/>
                <a:sym typeface="Microsoft Yahei" panose="020B0503020204020204" pitchFamily="34" charset="-122"/>
              </a:rPr>
              <a:t>D</a:t>
            </a:r>
            <a:endParaRPr kumimoji="1" lang="zh-CN" altLang="en-US" sz="16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Tahoma" pitchFamily="34" charset="0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sm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itchFamily="2" charset="2"/>
              <a:buNone/>
              <a:tabLst/>
              <a:defRPr/>
            </a:pPr>
            <a:r>
              <a:rPr kumimoji="1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Tahoma" pitchFamily="34" charset="0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sm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sm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SzTx/>
                <a:buFont typeface="Wingdings" pitchFamily="2" charset="2"/>
                <a:buNone/>
                <a:tabLst/>
                <a:defRPr/>
              </a:pPr>
              <a:endParaRPr kumimoji="1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sm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sm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SzTx/>
                <a:buFont typeface="Wingdings" pitchFamily="2" charset="2"/>
                <a:buNone/>
                <a:tabLst/>
                <a:defRPr/>
              </a:pPr>
              <a:endParaRPr kumimoji="1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Tahoma"/>
                  <a:sym typeface="Microsoft Yahei" panose="020B0503020204020204" pitchFamily="34" charset="-122"/>
                </a:rPr>
                <a:t>单选题</a:t>
              </a:r>
              <a:endParaRPr kumimoji="0" lang="zh-CN" altLang="en-US" sz="2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smtClean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Tahoma"/>
                  <a:sym typeface="Microsoft Yahei" panose="020B0503020204020204" pitchFamily="34" charset="-122"/>
                </a:rPr>
                <a:t>1</a:t>
              </a:r>
              <a:r>
                <a:rPr kumimoji="0" lang="zh-CN" altLang="en-US" sz="2000" b="0" i="0" u="none" strike="noStrike" kern="1200" cap="none" spc="0" normalizeH="0" baseline="0" noProof="0" smtClean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Tahoma"/>
                  <a:sym typeface="Microsoft Yahei" panose="020B0503020204020204" pitchFamily="34" charset="-122"/>
                </a:rPr>
                <a:t>分</a:t>
              </a: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96755705"/>
      </p:ext>
    </p:extLst>
  </p:cSld>
  <p:clrMapOvr>
    <a:masterClrMapping/>
  </p:clrMapOvr>
  <p:transition>
    <p:diamond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5465176-81DE-448F-989C-9499F9D37A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-106882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ahoma"/>
              </a:rPr>
              <a:t>同余的定义</a:t>
            </a:r>
            <a:endParaRPr kumimoji="1" lang="zh-CN" altLang="en-US" sz="4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itchFamily="18" charset="0"/>
              <a:ea typeface="微软雅黑" pitchFamily="34" charset="-122"/>
              <a:cs typeface="Tahom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290" y="2708900"/>
            <a:ext cx="10369440" cy="231713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996359" y="1484730"/>
            <a:ext cx="63914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ahoma"/>
              </a:rPr>
              <a:t>同余描述了两个整数之间的一种关系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15117289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320" y="1628750"/>
            <a:ext cx="10264253" cy="39605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5465176-81DE-448F-989C-9499F9D37A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-106882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ahoma"/>
              </a:rPr>
              <a:t>同余的性质</a:t>
            </a:r>
            <a:endParaRPr kumimoji="1" lang="zh-CN" altLang="en-US" sz="4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itchFamily="18" charset="0"/>
              <a:ea typeface="微软雅黑" pitchFamily="34" charset="-122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322443274"/>
      </p:ext>
    </p:extLst>
  </p:cSld>
  <p:clrMapOvr>
    <a:masterClrMapping/>
  </p:clrMapOvr>
  <p:transition>
    <p:diamond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250" y="1412720"/>
            <a:ext cx="10441450" cy="177367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5465176-81DE-448F-989C-9499F9D37A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-106882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ahoma"/>
              </a:rPr>
              <a:t>等价关系的定义</a:t>
            </a:r>
            <a:endParaRPr kumimoji="1" lang="zh-CN" altLang="en-US" sz="4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itchFamily="18" charset="0"/>
              <a:ea typeface="微软雅黑" pitchFamily="34" charset="-122"/>
              <a:cs typeface="Tahom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250" y="3428999"/>
            <a:ext cx="10441450" cy="3131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691215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5465176-81DE-448F-989C-9499F9D37A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-106882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ahoma"/>
              </a:rPr>
              <a:t>等价关系的例子</a:t>
            </a:r>
            <a:endParaRPr kumimoji="1" lang="zh-CN" altLang="en-US" sz="4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itchFamily="18" charset="0"/>
              <a:ea typeface="微软雅黑" pitchFamily="34" charset="-122"/>
              <a:cs typeface="Tahom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847410" y="2276840"/>
            <a:ext cx="799311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ahoma"/>
              </a:rPr>
              <a:t>相等关系是不是一种等价关系？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ahoma"/>
              </a:rPr>
              <a:t>整除关系是不是一种等价关系？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ahoma"/>
              </a:rPr>
              <a:t>大于关系是不是一种等价关系？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ahoma"/>
              </a:rPr>
              <a:t>同余关系是不是一种等价关系？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/>
              <a:ea typeface="굴림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890379864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265" y="1556740"/>
            <a:ext cx="10585470" cy="204431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5465176-81DE-448F-989C-9499F9D37A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-106882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ahoma"/>
              </a:rPr>
              <a:t>同余关系</a:t>
            </a:r>
            <a:endParaRPr kumimoji="1" lang="zh-CN" altLang="en-US" sz="4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itchFamily="18" charset="0"/>
              <a:ea typeface="微软雅黑" pitchFamily="34" charset="-122"/>
              <a:cs typeface="Tahom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378" y="3861060"/>
            <a:ext cx="10610748" cy="1711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499287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940" y="3584131"/>
            <a:ext cx="9686781" cy="309899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209" y="1196690"/>
            <a:ext cx="9658513" cy="2250945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15465176-81DE-448F-989C-9499F9D37A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-106882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ahoma"/>
              </a:rPr>
              <a:t>剩余类</a:t>
            </a:r>
            <a:endParaRPr kumimoji="1" lang="zh-CN" altLang="en-US" sz="4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itchFamily="18" charset="0"/>
              <a:ea typeface="微软雅黑" pitchFamily="34" charset="-122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813337057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330" y="1628750"/>
            <a:ext cx="10153410" cy="289218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5465176-81DE-448F-989C-9499F9D37A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-106882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ahoma"/>
              </a:rPr>
              <a:t>剩余类的基本性质</a:t>
            </a:r>
            <a:endParaRPr kumimoji="1" lang="zh-CN" altLang="en-US" sz="4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itchFamily="18" charset="0"/>
              <a:ea typeface="微软雅黑" pitchFamily="34" charset="-122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396591928"/>
      </p:ext>
    </p:extLst>
  </p:cSld>
  <p:clrMapOvr>
    <a:masterClrMapping/>
  </p:clrMapOvr>
  <p:transition>
    <p:diamond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5465176-81DE-448F-989C-9499F9D37A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-106882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ahoma"/>
              </a:rPr>
              <a:t>本次课程内容目录</a:t>
            </a:r>
            <a:endParaRPr kumimoji="1" lang="zh-CN" altLang="en-US" sz="4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itchFamily="18" charset="0"/>
              <a:ea typeface="微软雅黑" pitchFamily="34" charset="-122"/>
              <a:cs typeface="Tahoma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85FC0DA3-8704-48A8-B7C0-140F8F97AAE8}"/>
              </a:ext>
            </a:extLst>
          </p:cNvPr>
          <p:cNvGrpSpPr/>
          <p:nvPr/>
        </p:nvGrpSpPr>
        <p:grpSpPr>
          <a:xfrm>
            <a:off x="2351480" y="2060810"/>
            <a:ext cx="7152574" cy="4201037"/>
            <a:chOff x="3655393" y="1748727"/>
            <a:chExt cx="7152574" cy="4201037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68BC809F-7DDC-B845-9C51-2DE8945A32E2}"/>
                </a:ext>
              </a:extLst>
            </p:cNvPr>
            <p:cNvGrpSpPr/>
            <p:nvPr/>
          </p:nvGrpSpPr>
          <p:grpSpPr>
            <a:xfrm>
              <a:off x="3655393" y="1748727"/>
              <a:ext cx="7152574" cy="3355415"/>
              <a:chOff x="3655393" y="1225714"/>
              <a:chExt cx="7152574" cy="3355415"/>
            </a:xfrm>
          </p:grpSpPr>
          <p:sp>
            <p:nvSpPr>
              <p:cNvPr id="14" name="圆角矩形 13"/>
              <p:cNvSpPr/>
              <p:nvPr/>
            </p:nvSpPr>
            <p:spPr>
              <a:xfrm>
                <a:off x="3673153" y="2961812"/>
                <a:ext cx="7104789" cy="757997"/>
              </a:xfrm>
              <a:prstGeom prst="roundRect">
                <a:avLst>
                  <a:gd name="adj" fmla="val 50000"/>
                </a:avLst>
              </a:prstGeom>
              <a:solidFill>
                <a:srgbClr val="002060"/>
              </a:solidFill>
              <a:ln w="88900" cap="flat" cmpd="sng" algn="ctr">
                <a:gradFill flip="none" rotWithShape="1">
                  <a:gsLst>
                    <a:gs pos="0">
                      <a:srgbClr val="5B9BD5">
                        <a:tint val="66000"/>
                        <a:satMod val="160000"/>
                        <a:alpha val="0"/>
                      </a:srgbClr>
                    </a:gs>
                    <a:gs pos="50000">
                      <a:srgbClr val="FFC000"/>
                    </a:gs>
                    <a:gs pos="100000">
                      <a:srgbClr val="5B9BD5">
                        <a:tint val="23500"/>
                        <a:satMod val="160000"/>
                        <a:alpha val="0"/>
                      </a:srgbClr>
                    </a:gs>
                  </a:gsLst>
                  <a:lin ang="5400000" scaled="1"/>
                  <a:tileRect/>
                </a:gradFill>
                <a:prstDash val="solid"/>
                <a:miter lim="800000"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/>
                  <a:ea typeface="微软雅黑"/>
                  <a:cs typeface="Tahoma"/>
                </a:endParaRPr>
              </a:p>
            </p:txBody>
          </p:sp>
          <p:sp>
            <p:nvSpPr>
              <p:cNvPr id="15" name="圆角矩形 14"/>
              <p:cNvSpPr/>
              <p:nvPr/>
            </p:nvSpPr>
            <p:spPr>
              <a:xfrm>
                <a:off x="3655393" y="2100493"/>
                <a:ext cx="7104789" cy="757997"/>
              </a:xfrm>
              <a:prstGeom prst="roundRect">
                <a:avLst>
                  <a:gd name="adj" fmla="val 50000"/>
                </a:avLst>
              </a:prstGeom>
              <a:solidFill>
                <a:srgbClr val="C00000"/>
              </a:solidFill>
              <a:ln w="88900" cap="flat" cmpd="sng" algn="ctr">
                <a:gradFill flip="none" rotWithShape="1">
                  <a:gsLst>
                    <a:gs pos="0">
                      <a:srgbClr val="5B9BD5">
                        <a:tint val="66000"/>
                        <a:satMod val="160000"/>
                        <a:alpha val="0"/>
                      </a:srgbClr>
                    </a:gs>
                    <a:gs pos="50000">
                      <a:srgbClr val="FFC000"/>
                    </a:gs>
                    <a:gs pos="100000">
                      <a:srgbClr val="5B9BD5">
                        <a:tint val="23500"/>
                        <a:satMod val="160000"/>
                        <a:alpha val="0"/>
                      </a:srgbClr>
                    </a:gs>
                  </a:gsLst>
                  <a:lin ang="5400000" scaled="1"/>
                  <a:tileRect/>
                </a:gradFill>
                <a:prstDash val="solid"/>
                <a:miter lim="800000"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/>
                  <a:ea typeface="微软雅黑"/>
                  <a:cs typeface="Tahoma"/>
                </a:endParaRPr>
              </a:p>
            </p:txBody>
          </p:sp>
          <p:sp>
            <p:nvSpPr>
              <p:cNvPr id="16" name="圆角矩形 15"/>
              <p:cNvSpPr/>
              <p:nvPr/>
            </p:nvSpPr>
            <p:spPr>
              <a:xfrm>
                <a:off x="3655393" y="1239174"/>
                <a:ext cx="7104789" cy="757997"/>
              </a:xfrm>
              <a:prstGeom prst="roundRect">
                <a:avLst>
                  <a:gd name="adj" fmla="val 50000"/>
                </a:avLst>
              </a:prstGeom>
              <a:solidFill>
                <a:srgbClr val="002060"/>
              </a:solidFill>
              <a:ln w="88900" cap="flat" cmpd="sng" algn="ctr">
                <a:gradFill flip="none" rotWithShape="1">
                  <a:gsLst>
                    <a:gs pos="0">
                      <a:srgbClr val="5B9BD5">
                        <a:tint val="66000"/>
                        <a:satMod val="160000"/>
                        <a:alpha val="0"/>
                      </a:srgbClr>
                    </a:gs>
                    <a:gs pos="50000">
                      <a:srgbClr val="FFC000"/>
                    </a:gs>
                    <a:gs pos="100000">
                      <a:srgbClr val="5B9BD5">
                        <a:tint val="23500"/>
                        <a:satMod val="160000"/>
                        <a:alpha val="0"/>
                      </a:srgbClr>
                    </a:gs>
                  </a:gsLst>
                  <a:lin ang="5400000" scaled="1"/>
                  <a:tileRect/>
                </a:gradFill>
                <a:prstDash val="solid"/>
                <a:miter lim="800000"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/>
                  <a:ea typeface="微软雅黑"/>
                  <a:cs typeface="Tahoma"/>
                </a:endParaRPr>
              </a:p>
            </p:txBody>
          </p:sp>
          <p:sp>
            <p:nvSpPr>
              <p:cNvPr id="17" name="圆角矩形 16"/>
              <p:cNvSpPr/>
              <p:nvPr/>
            </p:nvSpPr>
            <p:spPr>
              <a:xfrm>
                <a:off x="3703178" y="3823132"/>
                <a:ext cx="7104789" cy="757997"/>
              </a:xfrm>
              <a:prstGeom prst="roundRect">
                <a:avLst>
                  <a:gd name="adj" fmla="val 50000"/>
                </a:avLst>
              </a:prstGeom>
              <a:solidFill>
                <a:srgbClr val="002060"/>
              </a:solidFill>
              <a:ln w="88900" cap="flat" cmpd="sng" algn="ctr">
                <a:gradFill flip="none" rotWithShape="1">
                  <a:gsLst>
                    <a:gs pos="0">
                      <a:srgbClr val="5B9BD5">
                        <a:tint val="66000"/>
                        <a:satMod val="160000"/>
                        <a:alpha val="0"/>
                      </a:srgbClr>
                    </a:gs>
                    <a:gs pos="50000">
                      <a:srgbClr val="FFC000"/>
                    </a:gs>
                    <a:gs pos="100000">
                      <a:srgbClr val="5B9BD5">
                        <a:tint val="23500"/>
                        <a:satMod val="160000"/>
                        <a:alpha val="0"/>
                      </a:srgbClr>
                    </a:gs>
                  </a:gsLst>
                  <a:lin ang="5400000" scaled="1"/>
                  <a:tileRect/>
                </a:gradFill>
                <a:prstDash val="solid"/>
                <a:miter lim="800000"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/>
                  <a:ea typeface="微软雅黑"/>
                  <a:cs typeface="Tahoma"/>
                </a:endParaRPr>
              </a:p>
            </p:txBody>
          </p:sp>
          <p:sp>
            <p:nvSpPr>
              <p:cNvPr id="18" name="TextBox 6"/>
              <p:cNvSpPr txBox="1"/>
              <p:nvPr/>
            </p:nvSpPr>
            <p:spPr>
              <a:xfrm>
                <a:off x="4711513" y="2089810"/>
                <a:ext cx="3818674" cy="707886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oadway" pitchFamily="82" charset="0"/>
                    <a:ea typeface="微软雅黑" pitchFamily="34" charset="-122"/>
                    <a:cs typeface="Tahoma"/>
                  </a:rPr>
                  <a:t>2</a:t>
                </a:r>
                <a:r>
                  <a:rPr kumimoji="0" lang="en-US" altLang="zh-CN" sz="28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Tahoma"/>
                  </a:rPr>
                  <a:t>    </a:t>
                </a:r>
                <a:r>
                  <a:rPr kumimoji="0" lang="zh-CN" altLang="en-US" sz="28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Tahoma"/>
                  </a:rPr>
                  <a:t>剩余类环和环理论</a:t>
                </a:r>
              </a:p>
            </p:txBody>
          </p:sp>
          <p:sp>
            <p:nvSpPr>
              <p:cNvPr id="19" name="TextBox 7"/>
              <p:cNvSpPr txBox="1"/>
              <p:nvPr/>
            </p:nvSpPr>
            <p:spPr>
              <a:xfrm>
                <a:off x="4711513" y="2953906"/>
                <a:ext cx="3100529" cy="707886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oadway" pitchFamily="82" charset="0"/>
                    <a:ea typeface="微软雅黑" pitchFamily="34" charset="-122"/>
                    <a:cs typeface="Tahoma"/>
                  </a:rPr>
                  <a:t>3</a:t>
                </a:r>
                <a:r>
                  <a:rPr kumimoji="0" lang="en-US" altLang="zh-CN" sz="28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Tahoma"/>
                  </a:rPr>
                  <a:t>    </a:t>
                </a:r>
                <a:r>
                  <a:rPr kumimoji="0" lang="zh-CN" altLang="en-US" sz="28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Tahoma"/>
                  </a:rPr>
                  <a:t>整除性和商环</a:t>
                </a:r>
              </a:p>
            </p:txBody>
          </p:sp>
          <p:sp>
            <p:nvSpPr>
              <p:cNvPr id="20" name="TextBox 8"/>
              <p:cNvSpPr txBox="1"/>
              <p:nvPr/>
            </p:nvSpPr>
            <p:spPr>
              <a:xfrm>
                <a:off x="4711513" y="3818002"/>
                <a:ext cx="5254965" cy="707886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oadway" pitchFamily="82" charset="0"/>
                    <a:ea typeface="微软雅黑" pitchFamily="34" charset="-122"/>
                    <a:cs typeface="Tahoma"/>
                  </a:rPr>
                  <a:t>4</a:t>
                </a:r>
                <a:r>
                  <a:rPr kumimoji="0" lang="en-US" altLang="zh-CN" sz="28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Tahoma"/>
                  </a:rPr>
                  <a:t>    </a:t>
                </a:r>
                <a:r>
                  <a:rPr kumimoji="0" lang="zh-CN" altLang="en-US" sz="28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Tahoma"/>
                  </a:rPr>
                  <a:t>多项式商环和素数阶有限域</a:t>
                </a:r>
              </a:p>
            </p:txBody>
          </p:sp>
          <p:cxnSp>
            <p:nvCxnSpPr>
              <p:cNvPr id="21" name="直接连接符 20"/>
              <p:cNvCxnSpPr/>
              <p:nvPr/>
            </p:nvCxnSpPr>
            <p:spPr>
              <a:xfrm>
                <a:off x="5352718" y="2178073"/>
                <a:ext cx="0" cy="601616"/>
              </a:xfrm>
              <a:prstGeom prst="line">
                <a:avLst/>
              </a:prstGeom>
              <a:noFill/>
              <a:ln w="6350" cap="flat" cmpd="sng" algn="ctr">
                <a:solidFill>
                  <a:srgbClr val="FFC000"/>
                </a:solidFill>
                <a:prstDash val="sysDot"/>
                <a:miter lim="800000"/>
              </a:ln>
              <a:effectLst/>
            </p:spPr>
          </p:cxnSp>
          <p:cxnSp>
            <p:nvCxnSpPr>
              <p:cNvPr id="22" name="直接连接符 21"/>
              <p:cNvCxnSpPr/>
              <p:nvPr/>
            </p:nvCxnSpPr>
            <p:spPr>
              <a:xfrm>
                <a:off x="5352718" y="3055046"/>
                <a:ext cx="0" cy="601616"/>
              </a:xfrm>
              <a:prstGeom prst="line">
                <a:avLst/>
              </a:prstGeom>
              <a:noFill/>
              <a:ln w="6350" cap="flat" cmpd="sng" algn="ctr">
                <a:solidFill>
                  <a:srgbClr val="FFC000"/>
                </a:solidFill>
                <a:prstDash val="sysDot"/>
                <a:miter lim="800000"/>
              </a:ln>
              <a:effectLst/>
            </p:spPr>
          </p:cxnSp>
          <p:cxnSp>
            <p:nvCxnSpPr>
              <p:cNvPr id="23" name="直接连接符 22"/>
              <p:cNvCxnSpPr/>
              <p:nvPr/>
            </p:nvCxnSpPr>
            <p:spPr>
              <a:xfrm>
                <a:off x="5359691" y="3919142"/>
                <a:ext cx="0" cy="601616"/>
              </a:xfrm>
              <a:prstGeom prst="line">
                <a:avLst/>
              </a:prstGeom>
              <a:noFill/>
              <a:ln w="6350" cap="flat" cmpd="sng" algn="ctr">
                <a:solidFill>
                  <a:srgbClr val="FFC000"/>
                </a:solidFill>
                <a:prstDash val="sysDot"/>
                <a:miter lim="800000"/>
              </a:ln>
              <a:effectLst/>
            </p:spPr>
          </p:cxnSp>
          <p:sp>
            <p:nvSpPr>
              <p:cNvPr id="24" name="TextBox 19"/>
              <p:cNvSpPr txBox="1"/>
              <p:nvPr/>
            </p:nvSpPr>
            <p:spPr>
              <a:xfrm>
                <a:off x="4711513" y="1225714"/>
                <a:ext cx="3100529" cy="707886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oadway" pitchFamily="82" charset="0"/>
                    <a:ea typeface="微软雅黑" pitchFamily="34" charset="-122"/>
                    <a:cs typeface="Tahoma"/>
                  </a:rPr>
                  <a:t>1</a:t>
                </a:r>
                <a:r>
                  <a:rPr kumimoji="0" lang="en-US" altLang="zh-CN" sz="28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Tahoma"/>
                  </a:rPr>
                  <a:t>    </a:t>
                </a:r>
                <a:r>
                  <a:rPr kumimoji="0" lang="zh-CN" altLang="en-US" sz="28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Tahoma"/>
                  </a:rPr>
                  <a:t>模运算和同余</a:t>
                </a:r>
              </a:p>
            </p:txBody>
          </p:sp>
          <p:cxnSp>
            <p:nvCxnSpPr>
              <p:cNvPr id="25" name="直接连接符 24"/>
              <p:cNvCxnSpPr/>
              <p:nvPr/>
            </p:nvCxnSpPr>
            <p:spPr>
              <a:xfrm>
                <a:off x="5352718" y="1326854"/>
                <a:ext cx="0" cy="601616"/>
              </a:xfrm>
              <a:prstGeom prst="line">
                <a:avLst/>
              </a:prstGeom>
              <a:noFill/>
              <a:ln w="6350" cap="flat" cmpd="sng" algn="ctr">
                <a:solidFill>
                  <a:srgbClr val="FFC000"/>
                </a:solidFill>
                <a:prstDash val="sysDot"/>
                <a:miter lim="800000"/>
              </a:ln>
              <a:effectLst/>
            </p:spPr>
          </p:cxnSp>
        </p:grpSp>
        <p:sp>
          <p:nvSpPr>
            <p:cNvPr id="12" name="TextBox 8">
              <a:extLst>
                <a:ext uri="{FF2B5EF4-FFF2-40B4-BE49-F238E27FC236}">
                  <a16:creationId xmlns:a16="http://schemas.microsoft.com/office/drawing/2014/main" id="{DEA18B87-AC4B-42CE-8B76-57F1AFA19E17}"/>
                </a:ext>
              </a:extLst>
            </p:cNvPr>
            <p:cNvSpPr txBox="1"/>
            <p:nvPr/>
          </p:nvSpPr>
          <p:spPr>
            <a:xfrm>
              <a:off x="4711513" y="5241878"/>
              <a:ext cx="4536819" cy="707886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oadway" pitchFamily="82" charset="0"/>
                  <a:ea typeface="微软雅黑" pitchFamily="34" charset="-122"/>
                  <a:cs typeface="Tahoma"/>
                </a:rPr>
                <a:t>5</a:t>
              </a:r>
              <a:r>
                <a:rPr kumimoji="0" lang="en-US" altLang="zh-CN" sz="28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Tahoma"/>
                </a:rPr>
                <a:t>    </a:t>
              </a:r>
              <a:r>
                <a:rPr kumimoji="0" lang="zh-CN" altLang="en-US" sz="28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Tahoma"/>
                </a:rPr>
                <a:t>可搜索加密的发展趋势</a:t>
              </a:r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207178B5-E5E6-438C-BD7D-46D11FE92D47}"/>
                </a:ext>
              </a:extLst>
            </p:cNvPr>
            <p:cNvCxnSpPr/>
            <p:nvPr/>
          </p:nvCxnSpPr>
          <p:spPr>
            <a:xfrm>
              <a:off x="5359691" y="5348148"/>
              <a:ext cx="0" cy="601616"/>
            </a:xfrm>
            <a:prstGeom prst="line">
              <a:avLst/>
            </a:prstGeom>
            <a:noFill/>
            <a:ln w="6350" cap="flat" cmpd="sng" algn="ctr">
              <a:solidFill>
                <a:srgbClr val="FFC000"/>
              </a:solidFill>
              <a:prstDash val="sysDot"/>
              <a:miter lim="800000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869951087"/>
      </p:ext>
    </p:extLst>
  </p:cSld>
  <p:clrMapOvr>
    <a:masterClrMapping/>
  </p:clrMapOvr>
  <p:transition>
    <p:diamond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320" y="1412720"/>
            <a:ext cx="8467725" cy="9620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360" y="3212969"/>
            <a:ext cx="3240450" cy="200663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2030" y="3356990"/>
            <a:ext cx="2880400" cy="1915801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15465176-81DE-448F-989C-9499F9D37A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-106882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ahoma"/>
              </a:rPr>
              <a:t>例子</a:t>
            </a:r>
            <a:endParaRPr kumimoji="1" lang="zh-CN" altLang="en-US" sz="4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itchFamily="18" charset="0"/>
              <a:ea typeface="微软雅黑" pitchFamily="34" charset="-122"/>
              <a:cs typeface="Tahom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290" y="5514292"/>
            <a:ext cx="10826545" cy="658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627128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5465176-81DE-448F-989C-9499F9D37A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-106882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ahoma"/>
              </a:rPr>
              <a:t>例子续</a:t>
            </a:r>
            <a:endParaRPr kumimoji="1" lang="zh-CN" altLang="en-US" sz="4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itchFamily="18" charset="0"/>
              <a:ea typeface="微软雅黑" pitchFamily="34" charset="-122"/>
              <a:cs typeface="Tahom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310" y="1484730"/>
            <a:ext cx="9793360" cy="113419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330" y="3284980"/>
            <a:ext cx="3456480" cy="21603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4040" y="3267296"/>
            <a:ext cx="3384470" cy="2337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706158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5465176-81DE-448F-989C-9499F9D37A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-106882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ahoma"/>
              </a:rPr>
              <a:t>例子续</a:t>
            </a:r>
            <a:endParaRPr kumimoji="1" lang="zh-CN" altLang="en-US" sz="4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itchFamily="18" charset="0"/>
              <a:ea typeface="微软雅黑" pitchFamily="34" charset="-122"/>
              <a:cs typeface="Tahom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360" y="2564880"/>
            <a:ext cx="3600500" cy="262506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20" y="2564880"/>
            <a:ext cx="3456480" cy="263556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1415350" y="1412720"/>
                <a:ext cx="50407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Tahoma"/>
                  </a:rPr>
                  <a:t>推广</a:t>
                </a:r>
                <a:r>
                  <a:rPr kumimoji="0" lang="zh-CN" altLang="en-US" sz="2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Tahoma"/>
                  </a:rPr>
                  <a:t>到</a:t>
                </a:r>
                <a14:m>
                  <m:oMath xmlns:m="http://schemas.openxmlformats.org/officeDocument/2006/math">
                    <m:r>
                      <a:rPr kumimoji="0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𝑚𝑜𝑑</m:t>
                    </m:r>
                    <m:r>
                      <a:rPr kumimoji="0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5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Tahoma"/>
                  </a:rPr>
                  <a:t>上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Tahoma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350" y="1412720"/>
                <a:ext cx="5040700" cy="523220"/>
              </a:xfrm>
              <a:prstGeom prst="rect">
                <a:avLst/>
              </a:prstGeom>
              <a:blipFill>
                <a:blip r:embed="rId4"/>
                <a:stretch>
                  <a:fillRect l="-2418" t="-15116" b="-290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5875498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300" y="1196690"/>
            <a:ext cx="9865370" cy="285663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5465176-81DE-448F-989C-9499F9D37A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-106882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ahoma"/>
              </a:rPr>
              <a:t>剩余类环</a:t>
            </a:r>
            <a:endParaRPr kumimoji="1" lang="zh-CN" altLang="en-US" sz="4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ahom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300" y="4213901"/>
            <a:ext cx="9861249" cy="11203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1055300" y="5702643"/>
                <a:ext cx="577459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457200" indent="-457200"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r>
                      <a:rPr lang="zh-CN" altLang="en-US" sz="2800" b="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d>
                      <m:d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zh-CN" altLang="en-US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𝕫</m:t>
                            </m:r>
                          </m:e>
                          <m:sub>
                            <m:r>
                              <a:rPr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𝑚</m:t>
                            </m:r>
                          </m:sub>
                        </m:sSub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 +,  </m:t>
                        </m:r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</m:e>
                    </m:d>
                    <m:r>
                      <a:rPr lang="zh-CN" alt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是</m:t>
                    </m:r>
                  </m:oMath>
                </a14:m>
                <a:r>
                  <a:rPr lang="zh-CN" altLang="en-US" sz="2800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一个模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𝑚</m:t>
                    </m:r>
                  </m:oMath>
                </a14:m>
                <a:r>
                  <a:rPr lang="zh-CN" altLang="en-US" sz="2800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的剩余类</a:t>
                </a:r>
                <a:r>
                  <a:rPr lang="zh-CN" altLang="en-US" sz="28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环</a:t>
                </a:r>
                <a:endPara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300" y="5702643"/>
                <a:ext cx="5774594" cy="523220"/>
              </a:xfrm>
              <a:prstGeom prst="rect">
                <a:avLst/>
              </a:prstGeom>
              <a:blipFill>
                <a:blip r:embed="rId4"/>
                <a:stretch>
                  <a:fillRect t="-15116" r="-1267" b="-27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8378538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5465176-81DE-448F-989C-9499F9D37A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-106882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4000" kern="0" dirty="0" smtClean="0">
                <a:solidFill>
                  <a:prstClr val="white"/>
                </a:solidFill>
                <a:latin typeface="Times New Roman" pitchFamily="18" charset="0"/>
                <a:ea typeface="微软雅黑" pitchFamily="34" charset="-122"/>
                <a:cs typeface="Tahoma"/>
              </a:rPr>
              <a:t>环的定义</a:t>
            </a:r>
            <a:endParaRPr kumimoji="1" lang="zh-CN" altLang="en-US" sz="4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itchFamily="18" charset="0"/>
              <a:ea typeface="微软雅黑" pitchFamily="34" charset="-122"/>
              <a:cs typeface="Tahom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709" y="1698570"/>
            <a:ext cx="9467850" cy="423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278537"/>
      </p:ext>
    </p:extLst>
  </p:cSld>
  <p:clrMapOvr>
    <a:masterClrMapping/>
  </p:clrMapOvr>
  <p:transition>
    <p:diamond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461" y="1645526"/>
            <a:ext cx="9467850" cy="39243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5465176-81DE-448F-989C-9499F9D37A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-106882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4000" kern="0" dirty="0" smtClean="0">
                <a:solidFill>
                  <a:prstClr val="white"/>
                </a:solidFill>
                <a:latin typeface="Times New Roman" pitchFamily="18" charset="0"/>
                <a:ea typeface="微软雅黑" pitchFamily="34" charset="-122"/>
                <a:cs typeface="Tahoma"/>
              </a:rPr>
              <a:t>环的定义</a:t>
            </a:r>
            <a:endParaRPr kumimoji="1" lang="zh-CN" altLang="en-US" sz="4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itchFamily="18" charset="0"/>
              <a:ea typeface="微软雅黑" pitchFamily="34" charset="-122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014242295"/>
      </p:ext>
    </p:extLst>
  </p:cSld>
  <p:clrMapOvr>
    <a:masterClrMapping/>
  </p:clrMapOvr>
  <p:transition>
    <p:diamond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0513" y="1666547"/>
            <a:ext cx="9372600" cy="27051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5465176-81DE-448F-989C-9499F9D37A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-106882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4000" kern="0" dirty="0" smtClean="0">
                <a:solidFill>
                  <a:prstClr val="white"/>
                </a:solidFill>
                <a:latin typeface="Times New Roman" pitchFamily="18" charset="0"/>
                <a:ea typeface="微软雅黑" pitchFamily="34" charset="-122"/>
                <a:cs typeface="Tahoma"/>
              </a:rPr>
              <a:t>环的定义</a:t>
            </a:r>
            <a:endParaRPr kumimoji="1" lang="zh-CN" altLang="en-US" sz="4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itchFamily="18" charset="0"/>
              <a:ea typeface="微软雅黑" pitchFamily="34" charset="-122"/>
              <a:cs typeface="Tahom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513" y="4689913"/>
            <a:ext cx="9505950" cy="10096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220512" y="5948855"/>
            <a:ext cx="58529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域的元素若是有限多个，则称为有限域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32376498"/>
      </p:ext>
    </p:extLst>
  </p:cSld>
  <p:clrMapOvr>
    <a:masterClrMapping/>
  </p:clrMapOvr>
  <p:transition>
    <p:diamond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5465176-81DE-448F-989C-9499F9D37A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-106882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4000" kern="0" dirty="0" smtClean="0">
                <a:solidFill>
                  <a:prstClr val="white"/>
                </a:solidFill>
                <a:latin typeface="Times New Roman" pitchFamily="18" charset="0"/>
                <a:ea typeface="微软雅黑" pitchFamily="34" charset="-122"/>
                <a:cs typeface="Tahoma"/>
              </a:rPr>
              <a:t>环的定义</a:t>
            </a:r>
            <a:endParaRPr kumimoji="1" lang="zh-CN" altLang="en-US" sz="4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itchFamily="18" charset="0"/>
              <a:ea typeface="微软雅黑" pitchFamily="34" charset="-122"/>
              <a:cs typeface="Tahom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079" y="1311823"/>
            <a:ext cx="9458325" cy="499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984837"/>
      </p:ext>
    </p:extLst>
  </p:cSld>
  <p:clrMapOvr>
    <a:masterClrMapping/>
  </p:clrMapOvr>
  <p:transition>
    <p:diamond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5465176-81DE-448F-989C-9499F9D37A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-106882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ahoma"/>
              </a:rPr>
              <a:t>本次课程内容目录</a:t>
            </a:r>
            <a:endParaRPr kumimoji="1" lang="zh-CN" altLang="en-US" sz="4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itchFamily="18" charset="0"/>
              <a:ea typeface="微软雅黑" pitchFamily="34" charset="-122"/>
              <a:cs typeface="Tahoma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85FC0DA3-8704-48A8-B7C0-140F8F97AAE8}"/>
              </a:ext>
            </a:extLst>
          </p:cNvPr>
          <p:cNvGrpSpPr/>
          <p:nvPr/>
        </p:nvGrpSpPr>
        <p:grpSpPr>
          <a:xfrm>
            <a:off x="2351480" y="2060810"/>
            <a:ext cx="7152574" cy="4201037"/>
            <a:chOff x="3655393" y="1748727"/>
            <a:chExt cx="7152574" cy="4201037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68BC809F-7DDC-B845-9C51-2DE8945A32E2}"/>
                </a:ext>
              </a:extLst>
            </p:cNvPr>
            <p:cNvGrpSpPr/>
            <p:nvPr/>
          </p:nvGrpSpPr>
          <p:grpSpPr>
            <a:xfrm>
              <a:off x="3655393" y="1748727"/>
              <a:ext cx="7152574" cy="3355415"/>
              <a:chOff x="3655393" y="1225714"/>
              <a:chExt cx="7152574" cy="3355415"/>
            </a:xfrm>
          </p:grpSpPr>
          <p:sp>
            <p:nvSpPr>
              <p:cNvPr id="14" name="圆角矩形 13"/>
              <p:cNvSpPr/>
              <p:nvPr/>
            </p:nvSpPr>
            <p:spPr>
              <a:xfrm>
                <a:off x="3673153" y="2961812"/>
                <a:ext cx="7104789" cy="757997"/>
              </a:xfrm>
              <a:prstGeom prst="roundRect">
                <a:avLst>
                  <a:gd name="adj" fmla="val 50000"/>
                </a:avLst>
              </a:prstGeom>
              <a:solidFill>
                <a:srgbClr val="C00000"/>
              </a:solidFill>
              <a:ln w="88900" cap="flat" cmpd="sng" algn="ctr">
                <a:gradFill flip="none" rotWithShape="1">
                  <a:gsLst>
                    <a:gs pos="0">
                      <a:srgbClr val="5B9BD5">
                        <a:tint val="66000"/>
                        <a:satMod val="160000"/>
                        <a:alpha val="0"/>
                      </a:srgbClr>
                    </a:gs>
                    <a:gs pos="50000">
                      <a:srgbClr val="FFC000"/>
                    </a:gs>
                    <a:gs pos="100000">
                      <a:srgbClr val="5B9BD5">
                        <a:tint val="23500"/>
                        <a:satMod val="160000"/>
                        <a:alpha val="0"/>
                      </a:srgbClr>
                    </a:gs>
                  </a:gsLst>
                  <a:lin ang="5400000" scaled="1"/>
                  <a:tileRect/>
                </a:gradFill>
                <a:prstDash val="solid"/>
                <a:miter lim="800000"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/>
                  <a:ea typeface="微软雅黑"/>
                  <a:cs typeface="Tahoma"/>
                </a:endParaRPr>
              </a:p>
            </p:txBody>
          </p:sp>
          <p:sp>
            <p:nvSpPr>
              <p:cNvPr id="15" name="圆角矩形 14"/>
              <p:cNvSpPr/>
              <p:nvPr/>
            </p:nvSpPr>
            <p:spPr>
              <a:xfrm>
                <a:off x="3655393" y="2100493"/>
                <a:ext cx="7104789" cy="757997"/>
              </a:xfrm>
              <a:prstGeom prst="roundRect">
                <a:avLst>
                  <a:gd name="adj" fmla="val 50000"/>
                </a:avLst>
              </a:prstGeom>
              <a:solidFill>
                <a:srgbClr val="002060"/>
              </a:solidFill>
              <a:ln w="88900" cap="flat" cmpd="sng" algn="ctr">
                <a:gradFill flip="none" rotWithShape="1">
                  <a:gsLst>
                    <a:gs pos="0">
                      <a:srgbClr val="5B9BD5">
                        <a:tint val="66000"/>
                        <a:satMod val="160000"/>
                        <a:alpha val="0"/>
                      </a:srgbClr>
                    </a:gs>
                    <a:gs pos="50000">
                      <a:srgbClr val="FFC000"/>
                    </a:gs>
                    <a:gs pos="100000">
                      <a:srgbClr val="5B9BD5">
                        <a:tint val="23500"/>
                        <a:satMod val="160000"/>
                        <a:alpha val="0"/>
                      </a:srgbClr>
                    </a:gs>
                  </a:gsLst>
                  <a:lin ang="5400000" scaled="1"/>
                  <a:tileRect/>
                </a:gradFill>
                <a:prstDash val="solid"/>
                <a:miter lim="800000"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/>
                  <a:ea typeface="微软雅黑"/>
                  <a:cs typeface="Tahoma"/>
                </a:endParaRPr>
              </a:p>
            </p:txBody>
          </p:sp>
          <p:sp>
            <p:nvSpPr>
              <p:cNvPr id="16" name="圆角矩形 15"/>
              <p:cNvSpPr/>
              <p:nvPr/>
            </p:nvSpPr>
            <p:spPr>
              <a:xfrm>
                <a:off x="3655393" y="1239174"/>
                <a:ext cx="7104789" cy="757997"/>
              </a:xfrm>
              <a:prstGeom prst="roundRect">
                <a:avLst>
                  <a:gd name="adj" fmla="val 50000"/>
                </a:avLst>
              </a:prstGeom>
              <a:solidFill>
                <a:srgbClr val="002060"/>
              </a:solidFill>
              <a:ln w="88900" cap="flat" cmpd="sng" algn="ctr">
                <a:gradFill flip="none" rotWithShape="1">
                  <a:gsLst>
                    <a:gs pos="0">
                      <a:srgbClr val="5B9BD5">
                        <a:tint val="66000"/>
                        <a:satMod val="160000"/>
                        <a:alpha val="0"/>
                      </a:srgbClr>
                    </a:gs>
                    <a:gs pos="50000">
                      <a:srgbClr val="FFC000"/>
                    </a:gs>
                    <a:gs pos="100000">
                      <a:srgbClr val="5B9BD5">
                        <a:tint val="23500"/>
                        <a:satMod val="160000"/>
                        <a:alpha val="0"/>
                      </a:srgbClr>
                    </a:gs>
                  </a:gsLst>
                  <a:lin ang="5400000" scaled="1"/>
                  <a:tileRect/>
                </a:gradFill>
                <a:prstDash val="solid"/>
                <a:miter lim="800000"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/>
                  <a:ea typeface="微软雅黑"/>
                  <a:cs typeface="Tahoma"/>
                </a:endParaRPr>
              </a:p>
            </p:txBody>
          </p:sp>
          <p:sp>
            <p:nvSpPr>
              <p:cNvPr id="17" name="圆角矩形 16"/>
              <p:cNvSpPr/>
              <p:nvPr/>
            </p:nvSpPr>
            <p:spPr>
              <a:xfrm>
                <a:off x="3703178" y="3823132"/>
                <a:ext cx="7104789" cy="757997"/>
              </a:xfrm>
              <a:prstGeom prst="roundRect">
                <a:avLst>
                  <a:gd name="adj" fmla="val 50000"/>
                </a:avLst>
              </a:prstGeom>
              <a:solidFill>
                <a:srgbClr val="002060"/>
              </a:solidFill>
              <a:ln w="88900" cap="flat" cmpd="sng" algn="ctr">
                <a:gradFill flip="none" rotWithShape="1">
                  <a:gsLst>
                    <a:gs pos="0">
                      <a:srgbClr val="5B9BD5">
                        <a:tint val="66000"/>
                        <a:satMod val="160000"/>
                        <a:alpha val="0"/>
                      </a:srgbClr>
                    </a:gs>
                    <a:gs pos="50000">
                      <a:srgbClr val="FFC000"/>
                    </a:gs>
                    <a:gs pos="100000">
                      <a:srgbClr val="5B9BD5">
                        <a:tint val="23500"/>
                        <a:satMod val="160000"/>
                        <a:alpha val="0"/>
                      </a:srgbClr>
                    </a:gs>
                  </a:gsLst>
                  <a:lin ang="5400000" scaled="1"/>
                  <a:tileRect/>
                </a:gradFill>
                <a:prstDash val="solid"/>
                <a:miter lim="800000"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/>
                  <a:ea typeface="微软雅黑"/>
                  <a:cs typeface="Tahoma"/>
                </a:endParaRPr>
              </a:p>
            </p:txBody>
          </p:sp>
          <p:sp>
            <p:nvSpPr>
              <p:cNvPr id="18" name="TextBox 6"/>
              <p:cNvSpPr txBox="1"/>
              <p:nvPr/>
            </p:nvSpPr>
            <p:spPr>
              <a:xfrm>
                <a:off x="4711513" y="2089810"/>
                <a:ext cx="3818674" cy="707886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oadway" pitchFamily="82" charset="0"/>
                    <a:ea typeface="微软雅黑" pitchFamily="34" charset="-122"/>
                    <a:cs typeface="Tahoma"/>
                  </a:rPr>
                  <a:t>2</a:t>
                </a:r>
                <a:r>
                  <a:rPr kumimoji="0" lang="en-US" altLang="zh-CN" sz="28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Tahoma"/>
                  </a:rPr>
                  <a:t>    </a:t>
                </a:r>
                <a:r>
                  <a:rPr kumimoji="0" lang="zh-CN" altLang="en-US" sz="28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Tahoma"/>
                  </a:rPr>
                  <a:t>剩余类环和环理论</a:t>
                </a:r>
              </a:p>
            </p:txBody>
          </p:sp>
          <p:sp>
            <p:nvSpPr>
              <p:cNvPr id="19" name="TextBox 7"/>
              <p:cNvSpPr txBox="1"/>
              <p:nvPr/>
            </p:nvSpPr>
            <p:spPr>
              <a:xfrm>
                <a:off x="4711513" y="2953906"/>
                <a:ext cx="3100529" cy="707886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oadway" pitchFamily="82" charset="0"/>
                    <a:ea typeface="微软雅黑" pitchFamily="34" charset="-122"/>
                    <a:cs typeface="Tahoma"/>
                  </a:rPr>
                  <a:t>3</a:t>
                </a:r>
                <a:r>
                  <a:rPr kumimoji="0" lang="en-US" altLang="zh-CN" sz="28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Tahoma"/>
                  </a:rPr>
                  <a:t>    </a:t>
                </a:r>
                <a:r>
                  <a:rPr kumimoji="0" lang="zh-CN" altLang="en-US" sz="28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Tahoma"/>
                  </a:rPr>
                  <a:t>整除性和商环</a:t>
                </a:r>
              </a:p>
            </p:txBody>
          </p:sp>
          <p:sp>
            <p:nvSpPr>
              <p:cNvPr id="20" name="TextBox 8"/>
              <p:cNvSpPr txBox="1"/>
              <p:nvPr/>
            </p:nvSpPr>
            <p:spPr>
              <a:xfrm>
                <a:off x="4711513" y="3818002"/>
                <a:ext cx="5254965" cy="707886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oadway" pitchFamily="82" charset="0"/>
                    <a:ea typeface="微软雅黑" pitchFamily="34" charset="-122"/>
                    <a:cs typeface="Tahoma"/>
                  </a:rPr>
                  <a:t>4</a:t>
                </a:r>
                <a:r>
                  <a:rPr kumimoji="0" lang="en-US" altLang="zh-CN" sz="28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Tahoma"/>
                  </a:rPr>
                  <a:t>    </a:t>
                </a:r>
                <a:r>
                  <a:rPr kumimoji="0" lang="zh-CN" altLang="en-US" sz="28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Tahoma"/>
                  </a:rPr>
                  <a:t>多项式商环和素数阶有限域</a:t>
                </a:r>
              </a:p>
            </p:txBody>
          </p:sp>
          <p:cxnSp>
            <p:nvCxnSpPr>
              <p:cNvPr id="21" name="直接连接符 20"/>
              <p:cNvCxnSpPr/>
              <p:nvPr/>
            </p:nvCxnSpPr>
            <p:spPr>
              <a:xfrm>
                <a:off x="5352718" y="2178073"/>
                <a:ext cx="0" cy="601616"/>
              </a:xfrm>
              <a:prstGeom prst="line">
                <a:avLst/>
              </a:prstGeom>
              <a:noFill/>
              <a:ln w="6350" cap="flat" cmpd="sng" algn="ctr">
                <a:solidFill>
                  <a:srgbClr val="FFC000"/>
                </a:solidFill>
                <a:prstDash val="sysDot"/>
                <a:miter lim="800000"/>
              </a:ln>
              <a:effectLst/>
            </p:spPr>
          </p:cxnSp>
          <p:cxnSp>
            <p:nvCxnSpPr>
              <p:cNvPr id="22" name="直接连接符 21"/>
              <p:cNvCxnSpPr/>
              <p:nvPr/>
            </p:nvCxnSpPr>
            <p:spPr>
              <a:xfrm>
                <a:off x="5352718" y="3055046"/>
                <a:ext cx="0" cy="601616"/>
              </a:xfrm>
              <a:prstGeom prst="line">
                <a:avLst/>
              </a:prstGeom>
              <a:noFill/>
              <a:ln w="6350" cap="flat" cmpd="sng" algn="ctr">
                <a:solidFill>
                  <a:srgbClr val="FFC000"/>
                </a:solidFill>
                <a:prstDash val="sysDot"/>
                <a:miter lim="800000"/>
              </a:ln>
              <a:effectLst/>
            </p:spPr>
          </p:cxnSp>
          <p:cxnSp>
            <p:nvCxnSpPr>
              <p:cNvPr id="23" name="直接连接符 22"/>
              <p:cNvCxnSpPr/>
              <p:nvPr/>
            </p:nvCxnSpPr>
            <p:spPr>
              <a:xfrm>
                <a:off x="5359691" y="3919142"/>
                <a:ext cx="0" cy="601616"/>
              </a:xfrm>
              <a:prstGeom prst="line">
                <a:avLst/>
              </a:prstGeom>
              <a:noFill/>
              <a:ln w="6350" cap="flat" cmpd="sng" algn="ctr">
                <a:solidFill>
                  <a:srgbClr val="FFC000"/>
                </a:solidFill>
                <a:prstDash val="sysDot"/>
                <a:miter lim="800000"/>
              </a:ln>
              <a:effectLst/>
            </p:spPr>
          </p:cxnSp>
          <p:sp>
            <p:nvSpPr>
              <p:cNvPr id="24" name="TextBox 19"/>
              <p:cNvSpPr txBox="1"/>
              <p:nvPr/>
            </p:nvSpPr>
            <p:spPr>
              <a:xfrm>
                <a:off x="4711513" y="1225714"/>
                <a:ext cx="3100529" cy="707886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oadway" pitchFamily="82" charset="0"/>
                    <a:ea typeface="微软雅黑" pitchFamily="34" charset="-122"/>
                    <a:cs typeface="Tahoma"/>
                  </a:rPr>
                  <a:t>1</a:t>
                </a:r>
                <a:r>
                  <a:rPr kumimoji="0" lang="en-US" altLang="zh-CN" sz="28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Tahoma"/>
                  </a:rPr>
                  <a:t>    </a:t>
                </a:r>
                <a:r>
                  <a:rPr kumimoji="0" lang="zh-CN" altLang="en-US" sz="28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Tahoma"/>
                  </a:rPr>
                  <a:t>模运算和同余</a:t>
                </a:r>
              </a:p>
            </p:txBody>
          </p:sp>
          <p:cxnSp>
            <p:nvCxnSpPr>
              <p:cNvPr id="25" name="直接连接符 24"/>
              <p:cNvCxnSpPr/>
              <p:nvPr/>
            </p:nvCxnSpPr>
            <p:spPr>
              <a:xfrm>
                <a:off x="5352718" y="1326854"/>
                <a:ext cx="0" cy="601616"/>
              </a:xfrm>
              <a:prstGeom prst="line">
                <a:avLst/>
              </a:prstGeom>
              <a:noFill/>
              <a:ln w="6350" cap="flat" cmpd="sng" algn="ctr">
                <a:solidFill>
                  <a:srgbClr val="FFC000"/>
                </a:solidFill>
                <a:prstDash val="sysDot"/>
                <a:miter lim="800000"/>
              </a:ln>
              <a:effectLst/>
            </p:spPr>
          </p:cxnSp>
        </p:grpSp>
        <p:sp>
          <p:nvSpPr>
            <p:cNvPr id="12" name="TextBox 8">
              <a:extLst>
                <a:ext uri="{FF2B5EF4-FFF2-40B4-BE49-F238E27FC236}">
                  <a16:creationId xmlns:a16="http://schemas.microsoft.com/office/drawing/2014/main" id="{DEA18B87-AC4B-42CE-8B76-57F1AFA19E17}"/>
                </a:ext>
              </a:extLst>
            </p:cNvPr>
            <p:cNvSpPr txBox="1"/>
            <p:nvPr/>
          </p:nvSpPr>
          <p:spPr>
            <a:xfrm>
              <a:off x="4711513" y="5241878"/>
              <a:ext cx="4536819" cy="707886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oadway" pitchFamily="82" charset="0"/>
                  <a:ea typeface="微软雅黑" pitchFamily="34" charset="-122"/>
                  <a:cs typeface="Tahoma"/>
                </a:rPr>
                <a:t>5</a:t>
              </a:r>
              <a:r>
                <a:rPr kumimoji="0" lang="en-US" altLang="zh-CN" sz="28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Tahoma"/>
                </a:rPr>
                <a:t>    </a:t>
              </a:r>
              <a:r>
                <a:rPr kumimoji="0" lang="zh-CN" altLang="en-US" sz="28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Tahoma"/>
                </a:rPr>
                <a:t>可搜索加密的发展趋势</a:t>
              </a:r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207178B5-E5E6-438C-BD7D-46D11FE92D47}"/>
                </a:ext>
              </a:extLst>
            </p:cNvPr>
            <p:cNvCxnSpPr/>
            <p:nvPr/>
          </p:nvCxnSpPr>
          <p:spPr>
            <a:xfrm>
              <a:off x="5359691" y="5348148"/>
              <a:ext cx="0" cy="601616"/>
            </a:xfrm>
            <a:prstGeom prst="line">
              <a:avLst/>
            </a:prstGeom>
            <a:noFill/>
            <a:ln w="6350" cap="flat" cmpd="sng" algn="ctr">
              <a:solidFill>
                <a:srgbClr val="FFC000"/>
              </a:solidFill>
              <a:prstDash val="sysDot"/>
              <a:miter lim="800000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662360248"/>
      </p:ext>
    </p:extLst>
  </p:cSld>
  <p:clrMapOvr>
    <a:masterClrMapping/>
  </p:clrMapOvr>
  <p:transition>
    <p:diamond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494" y="1151867"/>
            <a:ext cx="9776099" cy="239212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5465176-81DE-448F-989C-9499F9D37A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-106882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4000" kern="0" dirty="0" smtClean="0">
                <a:solidFill>
                  <a:prstClr val="white"/>
                </a:solidFill>
                <a:latin typeface="Times New Roman" pitchFamily="18" charset="0"/>
                <a:ea typeface="微软雅黑" pitchFamily="34" charset="-122"/>
                <a:cs typeface="Tahoma"/>
              </a:rPr>
              <a:t>环</a:t>
            </a:r>
            <a:r>
              <a:rPr kumimoji="1" lang="zh-CN" altLang="en-US" sz="4000" kern="0" dirty="0" smtClean="0">
                <a:solidFill>
                  <a:prstClr val="white"/>
                </a:solidFill>
                <a:latin typeface="Times New Roman" pitchFamily="18" charset="0"/>
                <a:ea typeface="微软雅黑" pitchFamily="34" charset="-122"/>
                <a:cs typeface="Tahoma"/>
              </a:rPr>
              <a:t>的整除性</a:t>
            </a:r>
            <a:endParaRPr kumimoji="1" lang="zh-CN" altLang="en-US" sz="4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itchFamily="18" charset="0"/>
              <a:ea typeface="微软雅黑" pitchFamily="34" charset="-122"/>
              <a:cs typeface="Tahom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494" y="3919865"/>
            <a:ext cx="9776099" cy="172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962885"/>
      </p:ext>
    </p:extLst>
  </p:cSld>
  <p:clrMapOvr>
    <a:masterClrMapping/>
  </p:clrMapOvr>
  <p:transition>
    <p:diamond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5465176-81DE-448F-989C-9499F9D37A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-106882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ahoma"/>
              </a:rPr>
              <a:t>模</a:t>
            </a:r>
            <a:r>
              <a:rPr kumimoji="1" lang="en-US" altLang="zh-CN" sz="4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ahoma"/>
              </a:rPr>
              <a:t>m</a:t>
            </a:r>
            <a:r>
              <a:rPr kumimoji="1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ahoma"/>
              </a:rPr>
              <a:t>的单元群</a:t>
            </a:r>
            <a:endParaRPr kumimoji="1" lang="zh-CN" altLang="en-US" sz="4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itchFamily="18" charset="0"/>
              <a:ea typeface="微软雅黑" pitchFamily="34" charset="-122"/>
              <a:cs typeface="Tahom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1199320" y="1412720"/>
                <a:ext cx="8929240" cy="44012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marR="0" lvl="0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l"/>
                  <a:tabLst/>
                  <a:defRPr/>
                </a:pPr>
                <a:r>
                  <a:rPr kumimoji="0" lang="zh-CN" altLang="en-US" sz="2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ahoma"/>
                  </a:rPr>
                  <a:t>回顾：对正整数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altLang="zh-CN" sz="2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m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ahoma"/>
                  </a:rPr>
                  <a:t>和整数</a:t>
                </a:r>
                <a14:m>
                  <m:oMath xmlns:m="http://schemas.openxmlformats.org/officeDocument/2006/math">
                    <m:r>
                      <a:rPr kumimoji="0" lang="en-US" altLang="zh-CN" sz="2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𝑎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ahoma"/>
                  </a:rPr>
                  <a:t>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2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kumimoji="0" lang="en-US" altLang="zh-CN" sz="2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𝑎</m:t>
                        </m:r>
                      </m:e>
                      <m:sup>
                        <m:r>
                          <a:rPr kumimoji="0" lang="en-US" altLang="zh-CN" sz="2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−1</m:t>
                        </m:r>
                      </m:sup>
                    </m:sSup>
                    <m:r>
                      <a:rPr kumimoji="0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0" lang="en-US" altLang="zh-CN" sz="2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𝑚𝑜𝑑</m:t>
                    </m:r>
                    <m:r>
                      <a:rPr kumimoji="0" lang="en-US" altLang="zh-CN" sz="2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0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𝑚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ahoma"/>
                  </a:rPr>
                  <a:t> 存在的充分必要条件为</a:t>
                </a:r>
                <a14:m>
                  <m:oMath xmlns:m="http://schemas.openxmlformats.org/officeDocument/2006/math">
                    <m:r>
                      <a:rPr kumimoji="0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</m:t>
                    </m:r>
                    <m:r>
                      <a:rPr kumimoji="0" lang="en-US" altLang="zh-CN" sz="2800" b="0" i="1" u="none" strike="noStrike" kern="1200" cap="none" spc="0" normalizeH="0" baseline="0" noProof="0" dirty="0" err="1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𝑎</m:t>
                    </m:r>
                    <m:r>
                      <a:rPr kumimoji="0" lang="en-US" altLang="zh-CN" sz="2800" b="0" i="1" u="none" strike="noStrike" kern="1200" cap="none" spc="0" normalizeH="0" baseline="0" noProof="0" dirty="0" err="1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r>
                      <a:rPr kumimoji="0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𝑚</m:t>
                    </m:r>
                    <m:r>
                      <a:rPr kumimoji="0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)=1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ahoma"/>
                  </a:rPr>
                  <a:t>， 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2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kumimoji="0" lang="en-US" altLang="zh-CN" sz="2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𝑎</m:t>
                        </m:r>
                      </m:e>
                      <m:sup>
                        <m:r>
                          <a:rPr kumimoji="0" lang="en-US" altLang="zh-CN" sz="2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−1</m:t>
                        </m:r>
                      </m:sup>
                    </m:sSup>
                    <m:r>
                      <a:rPr kumimoji="0" lang="en-US" altLang="zh-CN" sz="2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0" lang="en-US" altLang="zh-CN" sz="2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𝑚𝑜𝑑</m:t>
                    </m:r>
                    <m:r>
                      <a:rPr kumimoji="0" lang="en-US" altLang="zh-CN" sz="2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0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𝑚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ahoma"/>
                  </a:rPr>
                  <a:t> </a:t>
                </a:r>
                <a:r>
                  <a:rPr kumimoji="0" lang="zh-CN" altLang="en-US" sz="2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ahoma"/>
                  </a:rPr>
                  <a:t>存在则称</a:t>
                </a:r>
                <a14:m>
                  <m:oMath xmlns:m="http://schemas.openxmlformats.org/officeDocument/2006/math">
                    <m:r>
                      <a:rPr kumimoji="0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𝑎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ahoma"/>
                  </a:rPr>
                  <a:t>为一个</a:t>
                </a:r>
                <a:r>
                  <a:rPr kumimoji="0" lang="zh-CN" altLang="en-US" sz="2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ahoma"/>
                  </a:rPr>
                  <a:t>单位</a:t>
                </a:r>
                <a:r>
                  <a:rPr kumimoji="0" lang="en-US" altLang="zh-CN" sz="2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ahoma"/>
                  </a:rPr>
                  <a:t>(unit)</a:t>
                </a:r>
              </a:p>
              <a:p>
                <a:pPr marL="457200" marR="0" lvl="0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l"/>
                  <a:tabLst/>
                  <a:defRPr/>
                </a:pPr>
                <a:endParaRPr kumimoji="0" lang="en-US" altLang="zh-CN" sz="28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ahoma"/>
                </a:endParaRPr>
              </a:p>
              <a:p>
                <a:pPr marL="457200" marR="0" lvl="0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l"/>
                  <a:tabLst/>
                  <a:defRPr/>
                </a:pPr>
                <a:r>
                  <a:rPr kumimoji="0" lang="zh-CN" altLang="en-US" sz="2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ahoma"/>
                  </a:rPr>
                  <a:t>定义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0" lang="en-US" altLang="zh-C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SupPr>
                      <m:e>
                        <m:r>
                          <a:rPr kumimoji="0" lang="zh-CN" altLang="en-US" sz="2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𝕫</m:t>
                        </m:r>
                        <m:r>
                          <m:rPr>
                            <m:nor/>
                          </m:rPr>
                          <a:rPr kumimoji="0" lang="en-US" altLang="zh-CN" sz="2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ahoma"/>
                          </a:rPr>
                          <m:t> </m:t>
                        </m:r>
                      </m:e>
                      <m:sub>
                        <m:r>
                          <a:rPr kumimoji="0" lang="en-US" altLang="zh-C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𝑚</m:t>
                        </m:r>
                      </m:sub>
                      <m:sup>
                        <m:r>
                          <a:rPr kumimoji="0" lang="en-US" altLang="zh-C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∗</m:t>
                        </m:r>
                      </m:sup>
                    </m:sSubSup>
                    <m:r>
                      <a:rPr kumimoji="0" lang="en-US" altLang="zh-CN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={</m:t>
                    </m:r>
                    <m:r>
                      <a:rPr kumimoji="0" lang="en-US" altLang="zh-CN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𝑎</m:t>
                    </m:r>
                    <m:r>
                      <a:rPr kumimoji="0" lang="zh-CN" alt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𝜖</m:t>
                    </m:r>
                    <m:sSub>
                      <m:sSubPr>
                        <m:ctrlPr>
                          <a:rPr kumimoji="0" lang="en-US" altLang="zh-CN" sz="2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0" lang="zh-CN" altLang="en-US" sz="2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𝕫</m:t>
                        </m:r>
                      </m:e>
                      <m:sub>
                        <m:r>
                          <a:rPr kumimoji="0" lang="en-US" altLang="zh-CN" sz="2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𝑚</m:t>
                        </m:r>
                      </m:sub>
                    </m:sSub>
                    <m:r>
                      <a:rPr kumimoji="0" lang="en-US" altLang="zh-CN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:</m:t>
                    </m:r>
                    <m:d>
                      <m:dPr>
                        <m:ctrlPr>
                          <a:rPr kumimoji="0" lang="en-US" altLang="zh-C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kumimoji="0" lang="en-US" altLang="zh-C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𝑎</m:t>
                        </m:r>
                        <m:r>
                          <a:rPr kumimoji="0" lang="en-US" altLang="zh-C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kumimoji="0" lang="en-US" altLang="zh-C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𝑚</m:t>
                        </m:r>
                      </m:e>
                    </m:d>
                    <m:r>
                      <a:rPr kumimoji="0" lang="en-US" altLang="zh-CN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=1}</m:t>
                    </m:r>
                  </m:oMath>
                </a14:m>
                <a:endParaRPr kumimoji="0" lang="en-US" altLang="zh-CN" sz="2800" b="0" i="1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Tahoma"/>
                </a:endParaRPr>
              </a:p>
              <a:p>
                <a:pPr marL="457200" marR="0" lvl="0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l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zh-CN" altLang="en-US" sz="2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若</m:t>
                    </m:r>
                    <m:r>
                      <a:rPr kumimoji="0" lang="en-US" altLang="zh-CN" sz="2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𝑎</m:t>
                    </m:r>
                    <m:r>
                      <a:rPr kumimoji="0" lang="en-US" altLang="zh-CN" sz="2800" b="0" i="1" u="none" strike="noStrike" kern="1200" cap="none" spc="0" normalizeH="0" baseline="-2500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1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ahoma"/>
                  </a:rPr>
                  <a:t>和</a:t>
                </a:r>
                <a14:m>
                  <m:oMath xmlns:m="http://schemas.openxmlformats.org/officeDocument/2006/math">
                    <m:r>
                      <a:rPr kumimoji="0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𝑎</m:t>
                    </m:r>
                    <m:r>
                      <a:rPr kumimoji="0" lang="en-US" altLang="zh-CN" sz="2800" b="0" i="1" u="none" strike="noStrike" kern="1200" cap="none" spc="0" normalizeH="0" baseline="-2500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2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ahoma"/>
                  </a:rPr>
                  <a:t>是单位，则</a:t>
                </a:r>
                <a14:m>
                  <m:oMath xmlns:m="http://schemas.openxmlformats.org/officeDocument/2006/math">
                    <m:r>
                      <a:rPr kumimoji="0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𝑎</m:t>
                    </m:r>
                    <m:r>
                      <a:rPr kumimoji="0" lang="en-US" altLang="zh-CN" sz="2800" b="0" i="1" u="none" strike="noStrike" kern="1200" cap="none" spc="0" normalizeH="0" baseline="-2500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1</m:t>
                    </m:r>
                    <m:r>
                      <a:rPr kumimoji="0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𝑎</m:t>
                    </m:r>
                    <m:r>
                      <a:rPr kumimoji="0" lang="en-US" altLang="zh-CN" sz="2800" b="0" i="1" u="none" strike="noStrike" kern="1200" cap="none" spc="0" normalizeH="0" baseline="-2500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2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ahoma"/>
                  </a:rPr>
                  <a:t>也</a:t>
                </a:r>
                <a:r>
                  <a:rPr kumimoji="0" lang="zh-CN" altLang="en-US" sz="2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ahoma"/>
                  </a:rPr>
                  <a:t>是单位</a:t>
                </a:r>
                <a:endParaRPr kumimoji="0" lang="en-US" altLang="zh-CN" sz="28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ahoma"/>
                </a:endParaRPr>
              </a:p>
              <a:p>
                <a:pPr marL="457200" marR="0" lvl="0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l"/>
                  <a:tabLst/>
                  <a:defRPr/>
                </a:pPr>
                <a:endParaRPr kumimoji="0" lang="en-US" altLang="zh-CN" sz="28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ahoma"/>
                </a:endParaRPr>
              </a:p>
              <a:p>
                <a:pPr marL="457200" marR="0" lvl="0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l"/>
                  <a:tabLst/>
                  <a:defRPr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kumimoji="0" lang="en-US" altLang="zh-CN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SupPr>
                      <m:e>
                        <m:r>
                          <a:rPr kumimoji="0" lang="zh-CN" alt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</m:t>
                        </m:r>
                        <m:r>
                          <a:rPr kumimoji="0" lang="en-US" altLang="zh-C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kumimoji="0" lang="zh-CN" altLang="en-US" sz="2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𝕫</m:t>
                        </m:r>
                        <m:r>
                          <m:rPr>
                            <m:nor/>
                          </m:rPr>
                          <a:rPr kumimoji="0" lang="en-US" altLang="zh-CN" sz="2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ahoma"/>
                          </a:rPr>
                          <m:t> </m:t>
                        </m:r>
                      </m:e>
                      <m:sub>
                        <m:r>
                          <a:rPr kumimoji="0" lang="en-US" altLang="zh-CN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𝑚</m:t>
                        </m:r>
                      </m:sub>
                      <m:sup>
                        <m:r>
                          <a:rPr kumimoji="0" lang="en-US" altLang="zh-CN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∗</m:t>
                        </m:r>
                      </m:sup>
                    </m:sSubSup>
                  </m:oMath>
                </a14:m>
                <a:r>
                  <a:rPr kumimoji="0" lang="zh-CN" altLang="en-US" sz="2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ahoma"/>
                  </a:rPr>
                  <a:t> </a:t>
                </a:r>
                <a:r>
                  <a:rPr kumimoji="0" lang="en-US" altLang="zh-CN" sz="2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ahoma"/>
                  </a:rPr>
                  <a:t>, </a:t>
                </a:r>
                <a14:m>
                  <m:oMath xmlns:m="http://schemas.openxmlformats.org/officeDocument/2006/math">
                    <m:r>
                      <a:rPr kumimoji="0" lang="en-US" altLang="zh-CN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×)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ahoma"/>
                  </a:rPr>
                  <a:t> 称为</a:t>
                </a:r>
                <a:r>
                  <a:rPr kumimoji="0" lang="zh-CN" altLang="en-US" sz="2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ahoma"/>
                  </a:rPr>
                  <a:t>模</a:t>
                </a:r>
                <a14:m>
                  <m:oMath xmlns:m="http://schemas.openxmlformats.org/officeDocument/2006/math">
                    <m:r>
                      <a:rPr kumimoji="0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𝑚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ahoma"/>
                  </a:rPr>
                  <a:t>的</a:t>
                </a:r>
                <a:r>
                  <a:rPr kumimoji="0" lang="en-US" altLang="zh-CN" sz="2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ahoma"/>
                  </a:rPr>
                  <a:t>(</a:t>
                </a:r>
                <a:r>
                  <a:rPr kumimoji="0" lang="zh-CN" altLang="en-US" sz="2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ahoma"/>
                  </a:rPr>
                  <a:t>乘法</a:t>
                </a:r>
                <a:r>
                  <a:rPr kumimoji="0" lang="en-US" altLang="zh-CN" sz="2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ahoma"/>
                  </a:rPr>
                  <a:t>)</a:t>
                </a:r>
                <a:r>
                  <a:rPr kumimoji="0" lang="zh-CN" altLang="en-US" sz="2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ahoma"/>
                  </a:rPr>
                  <a:t>单位群   </a:t>
                </a:r>
                <a:endPara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ahoma"/>
                </a:endParaRPr>
              </a:p>
              <a:p>
                <a:pPr marL="457200" marR="0" lvl="0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l"/>
                  <a:tabLst/>
                  <a:defRPr/>
                </a:pPr>
                <a:endParaRPr kumimoji="0" lang="en-US" altLang="zh-CN" sz="28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ahoma"/>
                </a:endParaRPr>
              </a:p>
              <a:p>
                <a:pPr marL="457200" marR="0" lvl="0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l"/>
                  <a:tabLst/>
                  <a:defRPr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kumimoji="0" lang="en-US" altLang="zh-C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SupPr>
                      <m:e>
                        <m:r>
                          <a:rPr kumimoji="0" lang="zh-CN" alt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</m:t>
                        </m:r>
                        <m:r>
                          <a:rPr kumimoji="0" lang="zh-CN" alt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问题</m:t>
                        </m:r>
                        <m:r>
                          <a:rPr kumimoji="0" lang="zh-CN" alt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：</m:t>
                        </m:r>
                        <m:r>
                          <a:rPr kumimoji="0" lang="en-US" altLang="zh-C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|</m:t>
                        </m:r>
                        <m:r>
                          <a:rPr kumimoji="0" lang="zh-CN" altLang="en-US" sz="2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𝕫</m:t>
                        </m:r>
                        <m:r>
                          <m:rPr>
                            <m:nor/>
                          </m:rPr>
                          <a:rPr kumimoji="0" lang="en-US" altLang="zh-CN" sz="2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ahoma"/>
                          </a:rPr>
                          <m:t> </m:t>
                        </m:r>
                      </m:e>
                      <m:sub>
                        <m:r>
                          <a:rPr kumimoji="0" lang="en-US" altLang="zh-CN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𝑚</m:t>
                        </m:r>
                      </m:sub>
                      <m:sup>
                        <m:r>
                          <a:rPr kumimoji="0" lang="en-US" altLang="zh-CN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∗</m:t>
                        </m:r>
                      </m:sup>
                    </m:sSubSup>
                  </m:oMath>
                </a14:m>
                <a:r>
                  <a:rPr kumimoji="0" lang="en-US" altLang="zh-CN" sz="2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ahoma"/>
                  </a:rPr>
                  <a:t>|=</a:t>
                </a:r>
                <a:r>
                  <a:rPr kumimoji="0" lang="zh-CN" altLang="en-US" sz="2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ahoma"/>
                  </a:rPr>
                  <a:t>？</a:t>
                </a:r>
                <a:endPara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ahoma"/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320" y="1412720"/>
                <a:ext cx="8929240" cy="4401205"/>
              </a:xfrm>
              <a:prstGeom prst="rect">
                <a:avLst/>
              </a:prstGeom>
              <a:blipFill>
                <a:blip r:embed="rId2"/>
                <a:stretch>
                  <a:fillRect l="-1229" t="-1939" b="-30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1688980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5465176-81DE-448F-989C-9499F9D37A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-106882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ahoma"/>
              </a:rPr>
              <a:t>环的性质</a:t>
            </a:r>
            <a:endParaRPr kumimoji="1" lang="zh-CN" altLang="en-US" sz="4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itchFamily="18" charset="0"/>
              <a:ea typeface="微软雅黑" pitchFamily="34" charset="-122"/>
              <a:cs typeface="Tahom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170" y="1205406"/>
            <a:ext cx="9420225" cy="17145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170" y="3180037"/>
            <a:ext cx="9458325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656209"/>
      </p:ext>
    </p:extLst>
  </p:cSld>
  <p:clrMapOvr>
    <a:masterClrMapping/>
  </p:clrMapOvr>
  <p:transition>
    <p:diamond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87" y="1796448"/>
            <a:ext cx="9991068" cy="348173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5465176-81DE-448F-989C-9499F9D37A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-106882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ahoma"/>
              </a:rPr>
              <a:t>环的性质</a:t>
            </a:r>
            <a:endParaRPr kumimoji="1" lang="zh-CN" altLang="en-US" sz="4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itchFamily="18" charset="0"/>
              <a:ea typeface="微软雅黑" pitchFamily="34" charset="-122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626955612"/>
      </p:ext>
    </p:extLst>
  </p:cSld>
  <p:clrMapOvr>
    <a:masterClrMapping/>
  </p:clrMapOvr>
  <p:transition>
    <p:diamond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5465176-81DE-448F-989C-9499F9D37A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-106882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ahoma"/>
              </a:rPr>
              <a:t>欧几里得环</a:t>
            </a:r>
            <a:endParaRPr kumimoji="1" lang="zh-CN" altLang="en-US" sz="4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itchFamily="18" charset="0"/>
              <a:ea typeface="微软雅黑" pitchFamily="34" charset="-122"/>
              <a:cs typeface="Tahom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562" y="1808929"/>
            <a:ext cx="9848686" cy="219632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562" y="4537512"/>
            <a:ext cx="9848686" cy="1375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867631"/>
      </p:ext>
    </p:extLst>
  </p:cSld>
  <p:clrMapOvr>
    <a:masterClrMapping/>
  </p:clrMapOvr>
  <p:transition>
    <p:diamond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010" y="1353535"/>
            <a:ext cx="9439275" cy="17335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009" y="3891290"/>
            <a:ext cx="9439275" cy="17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39140"/>
      </p:ext>
    </p:extLst>
  </p:cSld>
  <p:clrMapOvr>
    <a:masterClrMapping/>
  </p:clrMapOvr>
  <p:transition>
    <p:diamond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6272" y="1056618"/>
            <a:ext cx="6477000" cy="31051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179" y="4161768"/>
            <a:ext cx="9515475" cy="233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667718"/>
      </p:ext>
    </p:extLst>
  </p:cSld>
  <p:clrMapOvr>
    <a:masterClrMapping/>
  </p:clrMapOvr>
  <p:transition>
    <p:diamond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192" y="3963386"/>
            <a:ext cx="9496425" cy="13906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075" y="1302954"/>
            <a:ext cx="9515475" cy="233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337934"/>
      </p:ext>
    </p:extLst>
  </p:cSld>
  <p:clrMapOvr>
    <a:masterClrMapping/>
  </p:clrMapOvr>
  <p:transition>
    <p:diamond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579" y="1758676"/>
            <a:ext cx="9448800" cy="357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086343"/>
      </p:ext>
    </p:extLst>
  </p:cSld>
  <p:clrMapOvr>
    <a:masterClrMapping/>
  </p:clrMapOvr>
  <p:transition>
    <p:diamond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517" y="1954595"/>
            <a:ext cx="9448800" cy="299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048537"/>
      </p:ext>
    </p:extLst>
  </p:cSld>
  <p:clrMapOvr>
    <a:masterClrMapping/>
  </p:clrMapOvr>
  <p:transition>
    <p:diamond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5465176-81DE-448F-989C-9499F9D37A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-106882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ahoma"/>
              </a:rPr>
              <a:t>本次课程内容目录</a:t>
            </a:r>
            <a:endParaRPr kumimoji="1" lang="zh-CN" altLang="en-US" sz="4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itchFamily="18" charset="0"/>
              <a:ea typeface="微软雅黑" pitchFamily="34" charset="-122"/>
              <a:cs typeface="Tahoma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85FC0DA3-8704-48A8-B7C0-140F8F97AAE8}"/>
              </a:ext>
            </a:extLst>
          </p:cNvPr>
          <p:cNvGrpSpPr/>
          <p:nvPr/>
        </p:nvGrpSpPr>
        <p:grpSpPr>
          <a:xfrm>
            <a:off x="2351480" y="2060810"/>
            <a:ext cx="7152574" cy="4201037"/>
            <a:chOff x="3655393" y="1748727"/>
            <a:chExt cx="7152574" cy="4201037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68BC809F-7DDC-B845-9C51-2DE8945A32E2}"/>
                </a:ext>
              </a:extLst>
            </p:cNvPr>
            <p:cNvGrpSpPr/>
            <p:nvPr/>
          </p:nvGrpSpPr>
          <p:grpSpPr>
            <a:xfrm>
              <a:off x="3655393" y="1748727"/>
              <a:ext cx="7152574" cy="3355415"/>
              <a:chOff x="3655393" y="1225714"/>
              <a:chExt cx="7152574" cy="3355415"/>
            </a:xfrm>
          </p:grpSpPr>
          <p:sp>
            <p:nvSpPr>
              <p:cNvPr id="14" name="圆角矩形 13"/>
              <p:cNvSpPr/>
              <p:nvPr/>
            </p:nvSpPr>
            <p:spPr>
              <a:xfrm>
                <a:off x="3673153" y="2961812"/>
                <a:ext cx="7104789" cy="757997"/>
              </a:xfrm>
              <a:prstGeom prst="roundRect">
                <a:avLst>
                  <a:gd name="adj" fmla="val 50000"/>
                </a:avLst>
              </a:prstGeom>
              <a:solidFill>
                <a:srgbClr val="002060"/>
              </a:solidFill>
              <a:ln w="88900" cap="flat" cmpd="sng" algn="ctr">
                <a:gradFill flip="none" rotWithShape="1">
                  <a:gsLst>
                    <a:gs pos="0">
                      <a:srgbClr val="5B9BD5">
                        <a:tint val="66000"/>
                        <a:satMod val="160000"/>
                        <a:alpha val="0"/>
                      </a:srgbClr>
                    </a:gs>
                    <a:gs pos="50000">
                      <a:srgbClr val="FFC000"/>
                    </a:gs>
                    <a:gs pos="100000">
                      <a:srgbClr val="5B9BD5">
                        <a:tint val="23500"/>
                        <a:satMod val="160000"/>
                        <a:alpha val="0"/>
                      </a:srgbClr>
                    </a:gs>
                  </a:gsLst>
                  <a:lin ang="5400000" scaled="1"/>
                  <a:tileRect/>
                </a:gradFill>
                <a:prstDash val="solid"/>
                <a:miter lim="800000"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/>
                  <a:ea typeface="微软雅黑"/>
                  <a:cs typeface="Tahoma"/>
                </a:endParaRPr>
              </a:p>
            </p:txBody>
          </p:sp>
          <p:sp>
            <p:nvSpPr>
              <p:cNvPr id="15" name="圆角矩形 14"/>
              <p:cNvSpPr/>
              <p:nvPr/>
            </p:nvSpPr>
            <p:spPr>
              <a:xfrm>
                <a:off x="3655393" y="2100493"/>
                <a:ext cx="7104789" cy="757997"/>
              </a:xfrm>
              <a:prstGeom prst="roundRect">
                <a:avLst>
                  <a:gd name="adj" fmla="val 50000"/>
                </a:avLst>
              </a:prstGeom>
              <a:solidFill>
                <a:srgbClr val="002060"/>
              </a:solidFill>
              <a:ln w="88900" cap="flat" cmpd="sng" algn="ctr">
                <a:gradFill flip="none" rotWithShape="1">
                  <a:gsLst>
                    <a:gs pos="0">
                      <a:srgbClr val="5B9BD5">
                        <a:tint val="66000"/>
                        <a:satMod val="160000"/>
                        <a:alpha val="0"/>
                      </a:srgbClr>
                    </a:gs>
                    <a:gs pos="50000">
                      <a:srgbClr val="FFC000"/>
                    </a:gs>
                    <a:gs pos="100000">
                      <a:srgbClr val="5B9BD5">
                        <a:tint val="23500"/>
                        <a:satMod val="160000"/>
                        <a:alpha val="0"/>
                      </a:srgbClr>
                    </a:gs>
                  </a:gsLst>
                  <a:lin ang="5400000" scaled="1"/>
                  <a:tileRect/>
                </a:gradFill>
                <a:prstDash val="solid"/>
                <a:miter lim="800000"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/>
                  <a:ea typeface="微软雅黑"/>
                  <a:cs typeface="Tahoma"/>
                </a:endParaRPr>
              </a:p>
            </p:txBody>
          </p:sp>
          <p:sp>
            <p:nvSpPr>
              <p:cNvPr id="16" name="圆角矩形 15"/>
              <p:cNvSpPr/>
              <p:nvPr/>
            </p:nvSpPr>
            <p:spPr>
              <a:xfrm>
                <a:off x="3655393" y="1239174"/>
                <a:ext cx="7104789" cy="757997"/>
              </a:xfrm>
              <a:prstGeom prst="roundRect">
                <a:avLst>
                  <a:gd name="adj" fmla="val 50000"/>
                </a:avLst>
              </a:prstGeom>
              <a:solidFill>
                <a:srgbClr val="002060"/>
              </a:solidFill>
              <a:ln w="88900" cap="flat" cmpd="sng" algn="ctr">
                <a:gradFill flip="none" rotWithShape="1">
                  <a:gsLst>
                    <a:gs pos="0">
                      <a:srgbClr val="5B9BD5">
                        <a:tint val="66000"/>
                        <a:satMod val="160000"/>
                        <a:alpha val="0"/>
                      </a:srgbClr>
                    </a:gs>
                    <a:gs pos="50000">
                      <a:srgbClr val="FFC000"/>
                    </a:gs>
                    <a:gs pos="100000">
                      <a:srgbClr val="5B9BD5">
                        <a:tint val="23500"/>
                        <a:satMod val="160000"/>
                        <a:alpha val="0"/>
                      </a:srgbClr>
                    </a:gs>
                  </a:gsLst>
                  <a:lin ang="5400000" scaled="1"/>
                  <a:tileRect/>
                </a:gradFill>
                <a:prstDash val="solid"/>
                <a:miter lim="800000"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/>
                  <a:ea typeface="微软雅黑"/>
                  <a:cs typeface="Tahoma"/>
                </a:endParaRPr>
              </a:p>
            </p:txBody>
          </p:sp>
          <p:sp>
            <p:nvSpPr>
              <p:cNvPr id="17" name="圆角矩形 16"/>
              <p:cNvSpPr/>
              <p:nvPr/>
            </p:nvSpPr>
            <p:spPr>
              <a:xfrm>
                <a:off x="3703178" y="3823132"/>
                <a:ext cx="7104789" cy="757997"/>
              </a:xfrm>
              <a:prstGeom prst="roundRect">
                <a:avLst>
                  <a:gd name="adj" fmla="val 50000"/>
                </a:avLst>
              </a:prstGeom>
              <a:solidFill>
                <a:srgbClr val="C00000"/>
              </a:solidFill>
              <a:ln w="88900" cap="flat" cmpd="sng" algn="ctr">
                <a:gradFill flip="none" rotWithShape="1">
                  <a:gsLst>
                    <a:gs pos="0">
                      <a:srgbClr val="5B9BD5">
                        <a:tint val="66000"/>
                        <a:satMod val="160000"/>
                        <a:alpha val="0"/>
                      </a:srgbClr>
                    </a:gs>
                    <a:gs pos="50000">
                      <a:srgbClr val="FFC000"/>
                    </a:gs>
                    <a:gs pos="100000">
                      <a:srgbClr val="5B9BD5">
                        <a:tint val="23500"/>
                        <a:satMod val="160000"/>
                        <a:alpha val="0"/>
                      </a:srgbClr>
                    </a:gs>
                  </a:gsLst>
                  <a:lin ang="5400000" scaled="1"/>
                  <a:tileRect/>
                </a:gradFill>
                <a:prstDash val="solid"/>
                <a:miter lim="800000"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/>
                  <a:ea typeface="微软雅黑"/>
                  <a:cs typeface="Tahoma"/>
                </a:endParaRPr>
              </a:p>
            </p:txBody>
          </p:sp>
          <p:sp>
            <p:nvSpPr>
              <p:cNvPr id="18" name="TextBox 6"/>
              <p:cNvSpPr txBox="1"/>
              <p:nvPr/>
            </p:nvSpPr>
            <p:spPr>
              <a:xfrm>
                <a:off x="4711513" y="2089810"/>
                <a:ext cx="3818674" cy="707886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oadway" pitchFamily="82" charset="0"/>
                    <a:ea typeface="微软雅黑" pitchFamily="34" charset="-122"/>
                    <a:cs typeface="Tahoma"/>
                  </a:rPr>
                  <a:t>2</a:t>
                </a:r>
                <a:r>
                  <a:rPr kumimoji="0" lang="en-US" altLang="zh-CN" sz="28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Tahoma"/>
                  </a:rPr>
                  <a:t>    </a:t>
                </a:r>
                <a:r>
                  <a:rPr kumimoji="0" lang="zh-CN" altLang="en-US" sz="28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Tahoma"/>
                  </a:rPr>
                  <a:t>剩余类环和环理论</a:t>
                </a:r>
              </a:p>
            </p:txBody>
          </p:sp>
          <p:sp>
            <p:nvSpPr>
              <p:cNvPr id="19" name="TextBox 7"/>
              <p:cNvSpPr txBox="1"/>
              <p:nvPr/>
            </p:nvSpPr>
            <p:spPr>
              <a:xfrm>
                <a:off x="4711513" y="2953906"/>
                <a:ext cx="3100529" cy="707886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oadway" pitchFamily="82" charset="0"/>
                    <a:ea typeface="微软雅黑" pitchFamily="34" charset="-122"/>
                    <a:cs typeface="Tahoma"/>
                  </a:rPr>
                  <a:t>3</a:t>
                </a:r>
                <a:r>
                  <a:rPr kumimoji="0" lang="en-US" altLang="zh-CN" sz="28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Tahoma"/>
                  </a:rPr>
                  <a:t>    </a:t>
                </a:r>
                <a:r>
                  <a:rPr kumimoji="0" lang="zh-CN" altLang="en-US" sz="28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Tahoma"/>
                  </a:rPr>
                  <a:t>整除性和商环</a:t>
                </a:r>
              </a:p>
            </p:txBody>
          </p:sp>
          <p:sp>
            <p:nvSpPr>
              <p:cNvPr id="20" name="TextBox 8"/>
              <p:cNvSpPr txBox="1"/>
              <p:nvPr/>
            </p:nvSpPr>
            <p:spPr>
              <a:xfrm>
                <a:off x="4711513" y="3818002"/>
                <a:ext cx="5254965" cy="707886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oadway" pitchFamily="82" charset="0"/>
                    <a:ea typeface="微软雅黑" pitchFamily="34" charset="-122"/>
                    <a:cs typeface="Tahoma"/>
                  </a:rPr>
                  <a:t>4</a:t>
                </a:r>
                <a:r>
                  <a:rPr kumimoji="0" lang="en-US" altLang="zh-CN" sz="28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Tahoma"/>
                  </a:rPr>
                  <a:t>    </a:t>
                </a:r>
                <a:r>
                  <a:rPr kumimoji="0" lang="zh-CN" altLang="en-US" sz="28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Tahoma"/>
                  </a:rPr>
                  <a:t>多项式商环和素数阶有限域</a:t>
                </a:r>
              </a:p>
            </p:txBody>
          </p:sp>
          <p:cxnSp>
            <p:nvCxnSpPr>
              <p:cNvPr id="21" name="直接连接符 20"/>
              <p:cNvCxnSpPr/>
              <p:nvPr/>
            </p:nvCxnSpPr>
            <p:spPr>
              <a:xfrm>
                <a:off x="5352718" y="2178073"/>
                <a:ext cx="0" cy="601616"/>
              </a:xfrm>
              <a:prstGeom prst="line">
                <a:avLst/>
              </a:prstGeom>
              <a:noFill/>
              <a:ln w="6350" cap="flat" cmpd="sng" algn="ctr">
                <a:solidFill>
                  <a:srgbClr val="FFC000"/>
                </a:solidFill>
                <a:prstDash val="sysDot"/>
                <a:miter lim="800000"/>
              </a:ln>
              <a:effectLst/>
            </p:spPr>
          </p:cxnSp>
          <p:cxnSp>
            <p:nvCxnSpPr>
              <p:cNvPr id="22" name="直接连接符 21"/>
              <p:cNvCxnSpPr/>
              <p:nvPr/>
            </p:nvCxnSpPr>
            <p:spPr>
              <a:xfrm>
                <a:off x="5352718" y="3055046"/>
                <a:ext cx="0" cy="601616"/>
              </a:xfrm>
              <a:prstGeom prst="line">
                <a:avLst/>
              </a:prstGeom>
              <a:noFill/>
              <a:ln w="6350" cap="flat" cmpd="sng" algn="ctr">
                <a:solidFill>
                  <a:srgbClr val="FFC000"/>
                </a:solidFill>
                <a:prstDash val="sysDot"/>
                <a:miter lim="800000"/>
              </a:ln>
              <a:effectLst/>
            </p:spPr>
          </p:cxnSp>
          <p:cxnSp>
            <p:nvCxnSpPr>
              <p:cNvPr id="23" name="直接连接符 22"/>
              <p:cNvCxnSpPr/>
              <p:nvPr/>
            </p:nvCxnSpPr>
            <p:spPr>
              <a:xfrm>
                <a:off x="5359691" y="3919142"/>
                <a:ext cx="0" cy="601616"/>
              </a:xfrm>
              <a:prstGeom prst="line">
                <a:avLst/>
              </a:prstGeom>
              <a:noFill/>
              <a:ln w="6350" cap="flat" cmpd="sng" algn="ctr">
                <a:solidFill>
                  <a:srgbClr val="FFC000"/>
                </a:solidFill>
                <a:prstDash val="sysDot"/>
                <a:miter lim="800000"/>
              </a:ln>
              <a:effectLst/>
            </p:spPr>
          </p:cxnSp>
          <p:sp>
            <p:nvSpPr>
              <p:cNvPr id="24" name="TextBox 19"/>
              <p:cNvSpPr txBox="1"/>
              <p:nvPr/>
            </p:nvSpPr>
            <p:spPr>
              <a:xfrm>
                <a:off x="4711513" y="1225714"/>
                <a:ext cx="3100529" cy="707886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oadway" pitchFamily="82" charset="0"/>
                    <a:ea typeface="微软雅黑" pitchFamily="34" charset="-122"/>
                    <a:cs typeface="Tahoma"/>
                  </a:rPr>
                  <a:t>1</a:t>
                </a:r>
                <a:r>
                  <a:rPr kumimoji="0" lang="en-US" altLang="zh-CN" sz="28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Tahoma"/>
                  </a:rPr>
                  <a:t>    </a:t>
                </a:r>
                <a:r>
                  <a:rPr kumimoji="0" lang="zh-CN" altLang="en-US" sz="28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Tahoma"/>
                  </a:rPr>
                  <a:t>模运算和同余</a:t>
                </a:r>
              </a:p>
            </p:txBody>
          </p:sp>
          <p:cxnSp>
            <p:nvCxnSpPr>
              <p:cNvPr id="25" name="直接连接符 24"/>
              <p:cNvCxnSpPr/>
              <p:nvPr/>
            </p:nvCxnSpPr>
            <p:spPr>
              <a:xfrm>
                <a:off x="5352718" y="1326854"/>
                <a:ext cx="0" cy="601616"/>
              </a:xfrm>
              <a:prstGeom prst="line">
                <a:avLst/>
              </a:prstGeom>
              <a:noFill/>
              <a:ln w="6350" cap="flat" cmpd="sng" algn="ctr">
                <a:solidFill>
                  <a:srgbClr val="FFC000"/>
                </a:solidFill>
                <a:prstDash val="sysDot"/>
                <a:miter lim="800000"/>
              </a:ln>
              <a:effectLst/>
            </p:spPr>
          </p:cxnSp>
        </p:grpSp>
        <p:sp>
          <p:nvSpPr>
            <p:cNvPr id="12" name="TextBox 8">
              <a:extLst>
                <a:ext uri="{FF2B5EF4-FFF2-40B4-BE49-F238E27FC236}">
                  <a16:creationId xmlns:a16="http://schemas.microsoft.com/office/drawing/2014/main" id="{DEA18B87-AC4B-42CE-8B76-57F1AFA19E17}"/>
                </a:ext>
              </a:extLst>
            </p:cNvPr>
            <p:cNvSpPr txBox="1"/>
            <p:nvPr/>
          </p:nvSpPr>
          <p:spPr>
            <a:xfrm>
              <a:off x="4711513" y="5241878"/>
              <a:ext cx="4536819" cy="707886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oadway" pitchFamily="82" charset="0"/>
                  <a:ea typeface="微软雅黑" pitchFamily="34" charset="-122"/>
                  <a:cs typeface="Tahoma"/>
                </a:rPr>
                <a:t>5</a:t>
              </a:r>
              <a:r>
                <a:rPr kumimoji="0" lang="en-US" altLang="zh-CN" sz="28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Tahoma"/>
                </a:rPr>
                <a:t>    </a:t>
              </a:r>
              <a:r>
                <a:rPr kumimoji="0" lang="zh-CN" altLang="en-US" sz="28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Tahoma"/>
                </a:rPr>
                <a:t>可搜索加密的发展趋势</a:t>
              </a:r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207178B5-E5E6-438C-BD7D-46D11FE92D47}"/>
                </a:ext>
              </a:extLst>
            </p:cNvPr>
            <p:cNvCxnSpPr/>
            <p:nvPr/>
          </p:nvCxnSpPr>
          <p:spPr>
            <a:xfrm>
              <a:off x="5359691" y="5348148"/>
              <a:ext cx="0" cy="601616"/>
            </a:xfrm>
            <a:prstGeom prst="line">
              <a:avLst/>
            </a:prstGeom>
            <a:noFill/>
            <a:ln w="6350" cap="flat" cmpd="sng" algn="ctr">
              <a:solidFill>
                <a:srgbClr val="FFC000"/>
              </a:solidFill>
              <a:prstDash val="sysDot"/>
              <a:miter lim="800000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665028343"/>
      </p:ext>
    </p:extLst>
  </p:cSld>
  <p:clrMapOvr>
    <a:masterClrMapping/>
  </p:clrMapOvr>
  <p:transition>
    <p:diamond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954" y="1296220"/>
            <a:ext cx="9458325" cy="17430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953" y="3262804"/>
            <a:ext cx="9458325" cy="3114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309761"/>
      </p:ext>
    </p:extLst>
  </p:cSld>
  <p:clrMapOvr>
    <a:masterClrMapping/>
  </p:clrMapOvr>
  <p:transition>
    <p:diamond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319" y="1094553"/>
            <a:ext cx="9458325" cy="17049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244" y="2939284"/>
            <a:ext cx="9296400" cy="357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469672"/>
      </p:ext>
    </p:extLst>
  </p:cSld>
  <p:clrMapOvr>
    <a:masterClrMapping/>
  </p:clrMapOvr>
  <p:transition>
    <p:diamond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418" y="1501994"/>
            <a:ext cx="9420225" cy="13525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418" y="3036668"/>
            <a:ext cx="9286875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231251"/>
      </p:ext>
    </p:extLst>
  </p:cSld>
  <p:clrMapOvr>
    <a:masterClrMapping/>
  </p:clrMapOvr>
  <p:transition>
    <p:diamond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525" y="1282590"/>
            <a:ext cx="9410700" cy="34099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8350" y="4951029"/>
            <a:ext cx="9286875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623659"/>
      </p:ext>
    </p:extLst>
  </p:cSld>
  <p:clrMapOvr>
    <a:masterClrMapping/>
  </p:clrMapOvr>
  <p:transition>
    <p:diamond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467" y="1572775"/>
            <a:ext cx="9486900" cy="14001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2292" y="3611618"/>
            <a:ext cx="9239250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698443"/>
      </p:ext>
    </p:extLst>
  </p:cSld>
  <p:clrMapOvr>
    <a:masterClrMapping/>
  </p:clrMapOvr>
  <p:transition>
    <p:diamond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650" y="1471612"/>
            <a:ext cx="9410700" cy="391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807469"/>
      </p:ext>
    </p:extLst>
  </p:cSld>
  <p:clrMapOvr>
    <a:masterClrMapping/>
  </p:clrMapOvr>
  <p:transition>
    <p:diamond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075" y="1838325"/>
            <a:ext cx="9467850" cy="31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567537"/>
      </p:ext>
    </p:extLst>
  </p:cSld>
  <p:clrMapOvr>
    <a:masterClrMapping/>
  </p:clrMapOvr>
  <p:transition>
    <p:diamond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116" y="1909433"/>
            <a:ext cx="9467850" cy="282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501989"/>
      </p:ext>
    </p:extLst>
  </p:cSld>
  <p:clrMapOvr>
    <a:masterClrMapping/>
  </p:clrMapOvr>
  <p:transition>
    <p:diamond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535" y="1515624"/>
            <a:ext cx="9505950" cy="21240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1160" y="3907878"/>
            <a:ext cx="9410700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49657"/>
      </p:ext>
    </p:extLst>
  </p:cSld>
  <p:clrMapOvr>
    <a:masterClrMapping/>
  </p:clrMapOvr>
  <p:transition>
    <p:diamond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902" y="2013552"/>
            <a:ext cx="9401175" cy="280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299269"/>
      </p:ext>
    </p:extLst>
  </p:cSld>
  <p:clrMapOvr>
    <a:masterClrMapping/>
  </p:clrMapOvr>
  <p:transition>
    <p:diamond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5465176-81DE-448F-989C-9499F9D37A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528920" y="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ahoma"/>
              </a:rPr>
              <a:t>第</a:t>
            </a:r>
            <a:r>
              <a:rPr kumimoji="1" lang="en-US" altLang="zh-CN" sz="4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ahoma"/>
              </a:rPr>
              <a:t>3</a:t>
            </a:r>
            <a:r>
              <a:rPr kumimoji="1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ahoma"/>
              </a:rPr>
              <a:t>次课后作业</a:t>
            </a:r>
            <a:endParaRPr kumimoji="1" lang="zh-CN" altLang="en-US" sz="4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itchFamily="18" charset="0"/>
              <a:ea typeface="微软雅黑" pitchFamily="34" charset="-122"/>
              <a:cs typeface="Tahom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1199320" y="1165372"/>
                <a:ext cx="10585470" cy="2123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rabicPeriod"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Tahoma"/>
                  </a:rPr>
                  <a:t>设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𝐹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[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]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Tahoma"/>
                  </a:rPr>
                  <a:t>中的多项式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𝑓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),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𝑔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Tahoma"/>
                  </a:rPr>
                  <a:t>互素，求证存在唯一一组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𝑢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),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𝑣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Tahoma"/>
                  </a:rPr>
                  <a:t>使得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𝑢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)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𝑓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)+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𝑣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)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𝑔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)=1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Tahoma"/>
                  </a:rPr>
                  <a:t>且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𝑑𝑒𝑔𝑢</m:t>
                    </m:r>
                    <m:d>
                      <m:dPr>
                        <m:ctrlP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</m:e>
                    </m:d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&lt;</m:t>
                    </m:r>
                    <m:r>
                      <a:rPr kumimoji="0" lang="en-US" altLang="zh-CN" sz="2400" b="0" i="1" u="none" strike="noStrike" kern="1200" cap="none" spc="0" normalizeH="0" baseline="0" noProof="0" dirty="0" err="1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𝑑𝑒𝑔𝑔</m:t>
                    </m:r>
                    <m:d>
                      <m:dPr>
                        <m:ctrlP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</m:e>
                    </m:d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r>
                      <a:rPr kumimoji="0" lang="en-US" altLang="zh-CN" sz="2400" b="0" i="1" u="none" strike="noStrike" kern="1200" cap="none" spc="0" normalizeH="0" baseline="0" noProof="0" dirty="0" err="1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𝑑𝑒𝑔𝑣</m:t>
                    </m:r>
                    <m:d>
                      <m:dPr>
                        <m:ctrlP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</m:e>
                    </m:d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&lt;</m:t>
                    </m:r>
                    <m:r>
                      <a:rPr kumimoji="0" lang="en-US" altLang="zh-CN" sz="2400" b="0" i="1" u="none" strike="noStrike" kern="1200" cap="none" spc="0" normalizeH="0" baseline="0" noProof="0" dirty="0" err="1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𝑑𝑒𝑔𝑓</m:t>
                    </m:r>
                    <m:d>
                      <m:dPr>
                        <m:ctrlP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</m:e>
                    </m:d>
                  </m:oMath>
                </a14:m>
                <a:endParaRPr kumimoji="0" lang="en-US" altLang="zh-CN" sz="24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rabicPeriod"/>
                  <a:tabLst/>
                  <a:defRPr/>
                </a:pPr>
                <a:endParaRPr kumimoji="0" lang="en-US" altLang="zh-CN" sz="24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Tahoma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rabicPeriod"/>
                  <a:tabLst/>
                  <a:defRPr/>
                </a:pPr>
                <a:r>
                  <a:rPr lang="zh-CN" altLang="en-US" sz="2400" dirty="0" smtClean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ahoma"/>
                  </a:rPr>
                  <a:t>构造一个</a:t>
                </a:r>
                <a:r>
                  <a:rPr lang="en-US" altLang="zh-CN" sz="2400" dirty="0" smtClean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ahoma"/>
                  </a:rPr>
                  <a:t>2</a:t>
                </a:r>
                <a:r>
                  <a:rPr lang="en-US" altLang="zh-CN" sz="2400" baseline="30000" dirty="0" smtClean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ahoma"/>
                  </a:rPr>
                  <a:t>8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ahoma"/>
                  </a:rPr>
                  <a:t>元有限域，并说明理由</a:t>
                </a:r>
                <a:endParaRPr kumimoji="0" lang="en-US" altLang="zh-CN" sz="24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Tahoma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rabicPeriod"/>
                  <a:tabLst/>
                  <a:defRPr/>
                </a:pPr>
                <a:endParaRPr kumimoji="0" lang="en-US" altLang="zh-CN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/>
                  <a:ea typeface="굴림"/>
                  <a:cs typeface="Tahoma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rabicPeriod"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/>
                  <a:ea typeface="굴림"/>
                  <a:cs typeface="Tahoma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320" y="1165372"/>
                <a:ext cx="10585470" cy="2123658"/>
              </a:xfrm>
              <a:prstGeom prst="rect">
                <a:avLst/>
              </a:prstGeom>
              <a:blipFill>
                <a:blip r:embed="rId2"/>
                <a:stretch>
                  <a:fillRect l="-634" t="-31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0107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색종이 상자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4_색종이 상자">
      <a:majorFont>
        <a:latin typeface="굴림"/>
        <a:ea typeface="굴림"/>
        <a:cs typeface="Tahoma"/>
      </a:majorFont>
      <a:minorFont>
        <a:latin typeface="굴림"/>
        <a:ea typeface="굴림"/>
        <a:cs typeface="Taho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80000"/>
          </a:lnSpc>
          <a:spcBef>
            <a:spcPct val="50000"/>
          </a:spcBef>
          <a:spcAft>
            <a:spcPct val="0"/>
          </a:spcAft>
          <a:buClr>
            <a:srgbClr val="FF0000"/>
          </a:buClr>
          <a:buSzTx/>
          <a:buFont typeface="Wingdings" pitchFamily="2" charset="2"/>
          <a:buNone/>
          <a:tabLst/>
          <a:defRPr kumimoji="1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  <a:cs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80000"/>
          </a:lnSpc>
          <a:spcBef>
            <a:spcPct val="50000"/>
          </a:spcBef>
          <a:spcAft>
            <a:spcPct val="0"/>
          </a:spcAft>
          <a:buClr>
            <a:srgbClr val="FF0000"/>
          </a:buClr>
          <a:buSzTx/>
          <a:buFont typeface="Wingdings" pitchFamily="2" charset="2"/>
          <a:buNone/>
          <a:tabLst/>
          <a:defRPr kumimoji="1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  <a:cs typeface="Tahoma" pitchFamily="34" charset="0"/>
          </a:defRPr>
        </a:defPPr>
      </a:lstStyle>
    </a:lnDef>
  </a:objectDefaults>
  <a:extraClrSchemeLst>
    <a:extraClrScheme>
      <a:clrScheme name="4_색종이 상자 1">
        <a:dk1>
          <a:srgbClr val="000000"/>
        </a:dk1>
        <a:lt1>
          <a:srgbClr val="FFFFFF"/>
        </a:lt1>
        <a:dk2>
          <a:srgbClr val="CC6600"/>
        </a:dk2>
        <a:lt2>
          <a:srgbClr val="F5B363"/>
        </a:lt2>
        <a:accent1>
          <a:srgbClr val="EB933B"/>
        </a:accent1>
        <a:accent2>
          <a:srgbClr val="F3C917"/>
        </a:accent2>
        <a:accent3>
          <a:srgbClr val="FFFFFF"/>
        </a:accent3>
        <a:accent4>
          <a:srgbClr val="000000"/>
        </a:accent4>
        <a:accent5>
          <a:srgbClr val="F3C8AF"/>
        </a:accent5>
        <a:accent6>
          <a:srgbClr val="DCB614"/>
        </a:accent6>
        <a:hlink>
          <a:srgbClr val="BB9321"/>
        </a:hlink>
        <a:folHlink>
          <a:srgbClr val="F1E78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 2">
        <a:dk1>
          <a:srgbClr val="000000"/>
        </a:dk1>
        <a:lt1>
          <a:srgbClr val="FFFFFF"/>
        </a:lt1>
        <a:dk2>
          <a:srgbClr val="7EA93F"/>
        </a:dk2>
        <a:lt2>
          <a:srgbClr val="C1D078"/>
        </a:lt2>
        <a:accent1>
          <a:srgbClr val="A3BC5E"/>
        </a:accent1>
        <a:accent2>
          <a:srgbClr val="DEA866"/>
        </a:accent2>
        <a:accent3>
          <a:srgbClr val="FFFFFF"/>
        </a:accent3>
        <a:accent4>
          <a:srgbClr val="000000"/>
        </a:accent4>
        <a:accent5>
          <a:srgbClr val="CEDAB6"/>
        </a:accent5>
        <a:accent6>
          <a:srgbClr val="C9985C"/>
        </a:accent6>
        <a:hlink>
          <a:srgbClr val="B65A22"/>
        </a:hlink>
        <a:folHlink>
          <a:srgbClr val="EACB9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 3">
        <a:dk1>
          <a:srgbClr val="000000"/>
        </a:dk1>
        <a:lt1>
          <a:srgbClr val="FFFFFF"/>
        </a:lt1>
        <a:dk2>
          <a:srgbClr val="D56755"/>
        </a:dk2>
        <a:lt2>
          <a:srgbClr val="F6C6C6"/>
        </a:lt2>
        <a:accent1>
          <a:srgbClr val="EC9780"/>
        </a:accent1>
        <a:accent2>
          <a:srgbClr val="ECA958"/>
        </a:accent2>
        <a:accent3>
          <a:srgbClr val="FFFFFF"/>
        </a:accent3>
        <a:accent4>
          <a:srgbClr val="000000"/>
        </a:accent4>
        <a:accent5>
          <a:srgbClr val="F4C9C0"/>
        </a:accent5>
        <a:accent6>
          <a:srgbClr val="D6994F"/>
        </a:accent6>
        <a:hlink>
          <a:srgbClr val="D97131"/>
        </a:hlink>
        <a:folHlink>
          <a:srgbClr val="F7CD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 4">
        <a:dk1>
          <a:srgbClr val="000000"/>
        </a:dk1>
        <a:lt1>
          <a:srgbClr val="FFFFFF"/>
        </a:lt1>
        <a:dk2>
          <a:srgbClr val="990000"/>
        </a:dk2>
        <a:lt2>
          <a:srgbClr val="FDBDBB"/>
        </a:lt2>
        <a:accent1>
          <a:srgbClr val="DC4E4E"/>
        </a:accent1>
        <a:accent2>
          <a:srgbClr val="5984EF"/>
        </a:accent2>
        <a:accent3>
          <a:srgbClr val="FFFFFF"/>
        </a:accent3>
        <a:accent4>
          <a:srgbClr val="000000"/>
        </a:accent4>
        <a:accent5>
          <a:srgbClr val="EBB2B2"/>
        </a:accent5>
        <a:accent6>
          <a:srgbClr val="5077D9"/>
        </a:accent6>
        <a:hlink>
          <a:srgbClr val="1E44AE"/>
        </a:hlink>
        <a:folHlink>
          <a:srgbClr val="BDD5E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 5">
        <a:dk1>
          <a:srgbClr val="000000"/>
        </a:dk1>
        <a:lt1>
          <a:srgbClr val="FFFFFF"/>
        </a:lt1>
        <a:dk2>
          <a:srgbClr val="1475A6"/>
        </a:dk2>
        <a:lt2>
          <a:srgbClr val="B9D4F7"/>
        </a:lt2>
        <a:accent1>
          <a:srgbClr val="69B0D7"/>
        </a:accent1>
        <a:accent2>
          <a:srgbClr val="51C5BF"/>
        </a:accent2>
        <a:accent3>
          <a:srgbClr val="FFFFFF"/>
        </a:accent3>
        <a:accent4>
          <a:srgbClr val="000000"/>
        </a:accent4>
        <a:accent5>
          <a:srgbClr val="B9D4E8"/>
        </a:accent5>
        <a:accent6>
          <a:srgbClr val="49B2AD"/>
        </a:accent6>
        <a:hlink>
          <a:srgbClr val="2F8C93"/>
        </a:hlink>
        <a:folHlink>
          <a:srgbClr val="9BE7E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 6">
        <a:dk1>
          <a:srgbClr val="000000"/>
        </a:dk1>
        <a:lt1>
          <a:srgbClr val="FFFFFF"/>
        </a:lt1>
        <a:dk2>
          <a:srgbClr val="A60000"/>
        </a:dk2>
        <a:lt2>
          <a:srgbClr val="FDC4C3"/>
        </a:lt2>
        <a:accent1>
          <a:srgbClr val="DB664F"/>
        </a:accent1>
        <a:accent2>
          <a:srgbClr val="76BAD2"/>
        </a:accent2>
        <a:accent3>
          <a:srgbClr val="FFFFFF"/>
        </a:accent3>
        <a:accent4>
          <a:srgbClr val="000000"/>
        </a:accent4>
        <a:accent5>
          <a:srgbClr val="EAB8B2"/>
        </a:accent5>
        <a:accent6>
          <a:srgbClr val="6AA8BE"/>
        </a:accent6>
        <a:hlink>
          <a:srgbClr val="30789C"/>
        </a:hlink>
        <a:folHlink>
          <a:srgbClr val="BCDAF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 7">
        <a:dk1>
          <a:srgbClr val="000000"/>
        </a:dk1>
        <a:lt1>
          <a:srgbClr val="FFFFFF"/>
        </a:lt1>
        <a:dk2>
          <a:srgbClr val="B57901"/>
        </a:dk2>
        <a:lt2>
          <a:srgbClr val="FFE149"/>
        </a:lt2>
        <a:accent1>
          <a:srgbClr val="F3BF01"/>
        </a:accent1>
        <a:accent2>
          <a:srgbClr val="F37C0F"/>
        </a:accent2>
        <a:accent3>
          <a:srgbClr val="FFFFFF"/>
        </a:accent3>
        <a:accent4>
          <a:srgbClr val="000000"/>
        </a:accent4>
        <a:accent5>
          <a:srgbClr val="F8DCAA"/>
        </a:accent5>
        <a:accent6>
          <a:srgbClr val="DC700C"/>
        </a:accent6>
        <a:hlink>
          <a:srgbClr val="C35219"/>
        </a:hlink>
        <a:folHlink>
          <a:srgbClr val="EEC19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 8">
        <a:dk1>
          <a:srgbClr val="000000"/>
        </a:dk1>
        <a:lt1>
          <a:srgbClr val="FFFFFF"/>
        </a:lt1>
        <a:dk2>
          <a:srgbClr val="777777"/>
        </a:dk2>
        <a:lt2>
          <a:srgbClr val="DDDDDD"/>
        </a:lt2>
        <a:accent1>
          <a:srgbClr val="B2B2B2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878787"/>
        </a:accent6>
        <a:hlink>
          <a:srgbClr val="777777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1345</TotalTime>
  <Words>780</Words>
  <Application>Microsoft Office PowerPoint</Application>
  <PresentationFormat>宽屏</PresentationFormat>
  <Paragraphs>109</Paragraphs>
  <Slides>44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44</vt:i4>
      </vt:variant>
    </vt:vector>
  </HeadingPairs>
  <TitlesOfParts>
    <vt:vector size="62" baseType="lpstr">
      <vt:lpstr>굴림</vt:lpstr>
      <vt:lpstr>Microsoft Yahei</vt:lpstr>
      <vt:lpstr>等线</vt:lpstr>
      <vt:lpstr>黑体</vt:lpstr>
      <vt:lpstr>STXingkai</vt:lpstr>
      <vt:lpstr>华文新魏</vt:lpstr>
      <vt:lpstr>宋体</vt:lpstr>
      <vt:lpstr>微软雅黑</vt:lpstr>
      <vt:lpstr>Arial</vt:lpstr>
      <vt:lpstr>Broadway</vt:lpstr>
      <vt:lpstr>Calibri</vt:lpstr>
      <vt:lpstr>Cambria Math</vt:lpstr>
      <vt:lpstr>Tahoma</vt:lpstr>
      <vt:lpstr>Times New Roman</vt:lpstr>
      <vt:lpstr>Wingdings</vt:lpstr>
      <vt:lpstr>Wingdings 2</vt:lpstr>
      <vt:lpstr>Office 主题</vt:lpstr>
      <vt:lpstr>4_색종이 상자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webuser</dc:creator>
  <cp:lastModifiedBy>webuser</cp:lastModifiedBy>
  <cp:revision>39</cp:revision>
  <dcterms:created xsi:type="dcterms:W3CDTF">2020-09-29T13:00:19Z</dcterms:created>
  <dcterms:modified xsi:type="dcterms:W3CDTF">2020-10-14T04:03:35Z</dcterms:modified>
</cp:coreProperties>
</file>